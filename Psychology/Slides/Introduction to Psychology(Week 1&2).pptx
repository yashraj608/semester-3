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12192000"/>
  <p:notesSz cx="6858000" cy="9144000"/>
  <p:embeddedFontLst>
    <p:embeddedFont>
      <p:font typeface="Gill Sans"/>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iqtc6b1LA2CFwWyy19ZJrvYQFh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GillSans-regular.fntdata"/><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font" Target="fonts/GillSans-bold.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Empiricism: by John Locke </a:t>
            </a:r>
            <a:endParaRPr/>
          </a:p>
          <a:p>
            <a:pPr indent="0" lvl="0" marL="0" rtl="0" algn="l">
              <a:lnSpc>
                <a:spcPct val="100000"/>
              </a:lnSpc>
              <a:spcBef>
                <a:spcPts val="0"/>
              </a:spcBef>
              <a:spcAft>
                <a:spcPts val="0"/>
              </a:spcAft>
              <a:buSzPts val="1400"/>
              <a:buNone/>
            </a:pPr>
            <a:r>
              <a:rPr lang="en-US"/>
              <a:t>Based on the claim that experience is the source of knowledge. (observation through senses i.e.: sight, hearing, taste, touch and smell)</a:t>
            </a:r>
            <a:endParaRPr/>
          </a:p>
          <a:p>
            <a:pPr indent="0" lvl="0" marL="0" rtl="0" algn="l">
              <a:lnSpc>
                <a:spcPct val="100000"/>
              </a:lnSpc>
              <a:spcBef>
                <a:spcPts val="0"/>
              </a:spcBef>
              <a:spcAft>
                <a:spcPts val="0"/>
              </a:spcAft>
              <a:buSzPts val="1400"/>
              <a:buNone/>
            </a:pPr>
            <a:r>
              <a:t/>
            </a:r>
            <a:endParaRPr/>
          </a:p>
        </p:txBody>
      </p:sp>
      <p:sp>
        <p:nvSpPr>
          <p:cNvPr id="149" name="Google Shape;14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000">
                <a:solidFill>
                  <a:srgbClr val="C00000"/>
                </a:solidFill>
                <a:latin typeface="Calibri"/>
                <a:ea typeface="Calibri"/>
                <a:cs typeface="Calibri"/>
                <a:sym typeface="Calibri"/>
              </a:rPr>
              <a:t>Basic psychology: </a:t>
            </a:r>
            <a:r>
              <a:rPr b="0" i="0" lang="en-US" sz="1200">
                <a:solidFill>
                  <a:schemeClr val="dk1"/>
                </a:solidFill>
                <a:latin typeface="Calibri"/>
                <a:ea typeface="Calibri"/>
                <a:cs typeface="Calibri"/>
                <a:sym typeface="Calibri"/>
              </a:rPr>
              <a:t>purely theoretical, with the intent of increasing our understanding of certain phenomena or behavior but without seeking to solve or treat these problems.</a:t>
            </a:r>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Eg: A study looking at how caffeine consumption impacts the brain</a:t>
            </a:r>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A study assessing whether men or women are more likely to be diagnosed with depression</a:t>
            </a:r>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A study looking at how attachment styles among children of divorced parents compare to those raised by married parents</a:t>
            </a:r>
            <a:endParaRPr/>
          </a:p>
          <a:p>
            <a:pPr indent="0" lvl="0" marL="0" rtl="0" algn="l">
              <a:lnSpc>
                <a:spcPct val="100000"/>
              </a:lnSpc>
              <a:spcBef>
                <a:spcPts val="0"/>
              </a:spcBef>
              <a:spcAft>
                <a:spcPts val="0"/>
              </a:spcAft>
              <a:buSzPts val="1400"/>
              <a:buNone/>
            </a:pPr>
            <a:r>
              <a:t/>
            </a:r>
            <a:endParaRPr b="1"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1" i="0" lang="en-US" sz="1200">
                <a:solidFill>
                  <a:schemeClr val="dk1"/>
                </a:solidFill>
                <a:latin typeface="Calibri"/>
                <a:ea typeface="Calibri"/>
                <a:cs typeface="Calibri"/>
                <a:sym typeface="Calibri"/>
              </a:rPr>
              <a:t>Applied psychology: </a:t>
            </a:r>
            <a:r>
              <a:rPr b="0" i="0" lang="en-US" sz="1200">
                <a:solidFill>
                  <a:schemeClr val="dk1"/>
                </a:solidFill>
                <a:latin typeface="Calibri"/>
                <a:ea typeface="Calibri"/>
                <a:cs typeface="Calibri"/>
                <a:sym typeface="Calibri"/>
              </a:rPr>
              <a:t>Involves taking known psychological theories and principles to solve problems being experienced within other areas or fields</a:t>
            </a:r>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Many psychological studies on addiction reveal that the main cause of addiction is the stress factor. </a:t>
            </a:r>
            <a:endParaRPr b="0" i="0" sz="12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1800">
              <a:latin typeface="Arial"/>
              <a:ea typeface="Arial"/>
              <a:cs typeface="Arial"/>
              <a:sym typeface="Arial"/>
            </a:endParaRPr>
          </a:p>
          <a:p>
            <a:pPr indent="0" lvl="0" marL="0" rtl="0" algn="l">
              <a:lnSpc>
                <a:spcPct val="100000"/>
              </a:lnSpc>
              <a:spcBef>
                <a:spcPts val="0"/>
              </a:spcBef>
              <a:spcAft>
                <a:spcPts val="0"/>
              </a:spcAft>
              <a:buSzPts val="1400"/>
              <a:buNone/>
            </a:pPr>
            <a:br>
              <a:rPr lang="en-US"/>
            </a:br>
            <a:endParaRPr/>
          </a:p>
        </p:txBody>
      </p:sp>
      <p:sp>
        <p:nvSpPr>
          <p:cNvPr id="157" name="Google Shape;15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 Child showing tantrums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77" name="Google Shape;17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https://www.britannica.com/science/Gestalt-psychology</a:t>
            </a:r>
            <a:endParaRPr/>
          </a:p>
          <a:p>
            <a:pPr indent="0" lvl="0" marL="0" rtl="0" algn="l">
              <a:lnSpc>
                <a:spcPct val="100000"/>
              </a:lnSpc>
              <a:spcBef>
                <a:spcPts val="0"/>
              </a:spcBef>
              <a:spcAft>
                <a:spcPts val="0"/>
              </a:spcAft>
              <a:buSzPts val="1400"/>
              <a:buNone/>
            </a:pPr>
            <a:r>
              <a:t/>
            </a:r>
            <a:endParaRPr/>
          </a:p>
        </p:txBody>
      </p:sp>
      <p:sp>
        <p:nvSpPr>
          <p:cNvPr id="290" name="Google Shape;290;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4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6"/>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9" name="Google Shape;19;p4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2" name="Shape 22"/>
        <p:cNvGrpSpPr/>
        <p:nvPr/>
      </p:nvGrpSpPr>
      <p:grpSpPr>
        <a:xfrm>
          <a:off x="0" y="0"/>
          <a:ext cx="0" cy="0"/>
          <a:chOff x="0" y="0"/>
          <a:chExt cx="0" cy="0"/>
        </a:xfrm>
      </p:grpSpPr>
      <p:sp>
        <p:nvSpPr>
          <p:cNvPr id="23" name="Google Shape;23;p4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7"/>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25" name="Google Shape;25;p47"/>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6" name="Google Shape;26;p47"/>
          <p:cNvSpPr txBox="1"/>
          <p:nvPr>
            <p:ph idx="3" type="body"/>
          </p:nvPr>
        </p:nvSpPr>
        <p:spPr>
          <a:xfrm>
            <a:off x="599088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27" name="Google Shape;27;p47"/>
          <p:cNvSpPr txBox="1"/>
          <p:nvPr>
            <p:ph idx="4" type="body"/>
          </p:nvPr>
        </p:nvSpPr>
        <p:spPr>
          <a:xfrm>
            <a:off x="599088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8" name="Google Shape;28;p4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1" name="Shape 31"/>
        <p:cNvGrpSpPr/>
        <p:nvPr/>
      </p:nvGrpSpPr>
      <p:grpSpPr>
        <a:xfrm>
          <a:off x="0" y="0"/>
          <a:ext cx="0" cy="0"/>
          <a:chOff x="0" y="0"/>
          <a:chExt cx="0" cy="0"/>
        </a:xfrm>
      </p:grpSpPr>
      <p:sp>
        <p:nvSpPr>
          <p:cNvPr id="32" name="Google Shape;32;p4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5" name="Shape 35"/>
        <p:cNvGrpSpPr/>
        <p:nvPr/>
      </p:nvGrpSpPr>
      <p:grpSpPr>
        <a:xfrm>
          <a:off x="0" y="0"/>
          <a:ext cx="0" cy="0"/>
          <a:chOff x="0" y="0"/>
          <a:chExt cx="0" cy="0"/>
        </a:xfrm>
      </p:grpSpPr>
      <p:sp>
        <p:nvSpPr>
          <p:cNvPr id="36" name="Google Shape;36;p49"/>
          <p:cNvSpPr/>
          <p:nvPr/>
        </p:nvSpPr>
        <p:spPr>
          <a:xfrm>
            <a:off x="0" y="0"/>
            <a:ext cx="12192000" cy="4572001"/>
          </a:xfrm>
          <a:prstGeom prst="rect">
            <a:avLst/>
          </a:prstGeom>
          <a:solidFill>
            <a:srgbClr val="9E36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9"/>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9"/>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9"/>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40" name="Google Shape;40;p4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US"/>
              <a:t>‹#›</a:t>
            </a:fld>
            <a:endParaRPr/>
          </a:p>
        </p:txBody>
      </p:sp>
      <p:cxnSp>
        <p:nvCxnSpPr>
          <p:cNvPr id="43" name="Google Shape;43;p49"/>
          <p:cNvCxnSpPr/>
          <p:nvPr/>
        </p:nvCxnSpPr>
        <p:spPr>
          <a:xfrm rot="10800000">
            <a:off x="8386843" y="5264106"/>
            <a:ext cx="0" cy="914400"/>
          </a:xfrm>
          <a:prstGeom prst="straightConnector1">
            <a:avLst/>
          </a:prstGeom>
          <a:noFill/>
          <a:ln cap="flat" cmpd="sng" w="19050">
            <a:solidFill>
              <a:srgbClr val="9E361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5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0"/>
          <p:cNvSpPr txBox="1"/>
          <p:nvPr>
            <p:ph idx="1" type="body"/>
          </p:nvPr>
        </p:nvSpPr>
        <p:spPr>
          <a:xfrm>
            <a:off x="1024127"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50"/>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5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51" name="Shape 51"/>
        <p:cNvGrpSpPr/>
        <p:nvPr/>
      </p:nvGrpSpPr>
      <p:grpSpPr>
        <a:xfrm>
          <a:off x="0" y="0"/>
          <a:ext cx="0" cy="0"/>
          <a:chOff x="0" y="0"/>
          <a:chExt cx="0" cy="0"/>
        </a:xfrm>
      </p:grpSpPr>
      <p:sp>
        <p:nvSpPr>
          <p:cNvPr id="52" name="Google Shape;52;p51"/>
          <p:cNvSpPr/>
          <p:nvPr/>
        </p:nvSpPr>
        <p:spPr>
          <a:xfrm>
            <a:off x="0" y="0"/>
            <a:ext cx="12192000" cy="4572001"/>
          </a:xfrm>
          <a:prstGeom prst="rect">
            <a:avLst/>
          </a:prstGeom>
          <a:solidFill>
            <a:srgbClr val="7B6B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1"/>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1"/>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b="0"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51"/>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6" name="Google Shape;56;p5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US"/>
              <a:t>‹#›</a:t>
            </a:fld>
            <a:endParaRPr/>
          </a:p>
        </p:txBody>
      </p:sp>
      <p:cxnSp>
        <p:nvCxnSpPr>
          <p:cNvPr id="59" name="Google Shape;59;p51"/>
          <p:cNvCxnSpPr/>
          <p:nvPr/>
        </p:nvCxnSpPr>
        <p:spPr>
          <a:xfrm rot="10800000">
            <a:off x="8386843" y="5264106"/>
            <a:ext cx="0" cy="914400"/>
          </a:xfrm>
          <a:prstGeom prst="straightConnector1">
            <a:avLst/>
          </a:prstGeom>
          <a:noFill/>
          <a:ln cap="flat" cmpd="sng" w="19050">
            <a:solidFill>
              <a:srgbClr val="9E361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5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5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53"/>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Twentieth Centur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3"/>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68" name="Google Shape;68;p53"/>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9" name="Google Shape;69;p5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2" name="Shape 72"/>
        <p:cNvGrpSpPr/>
        <p:nvPr/>
      </p:nvGrpSpPr>
      <p:grpSpPr>
        <a:xfrm>
          <a:off x="0" y="0"/>
          <a:ext cx="0" cy="0"/>
          <a:chOff x="0" y="0"/>
          <a:chExt cx="0" cy="0"/>
        </a:xfrm>
      </p:grpSpPr>
      <p:sp>
        <p:nvSpPr>
          <p:cNvPr id="73" name="Google Shape;73;p54"/>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4"/>
          <p:cNvSpPr/>
          <p:nvPr>
            <p:ph idx="2" type="pic"/>
          </p:nvPr>
        </p:nvSpPr>
        <p:spPr>
          <a:xfrm>
            <a:off x="0" y="-1"/>
            <a:ext cx="12188952" cy="4572000"/>
          </a:xfrm>
          <a:prstGeom prst="rect">
            <a:avLst/>
          </a:prstGeom>
          <a:solidFill>
            <a:srgbClr val="EF8B67"/>
          </a:solidFill>
          <a:ln>
            <a:noFill/>
          </a:ln>
        </p:spPr>
      </p:sp>
      <p:sp>
        <p:nvSpPr>
          <p:cNvPr id="75" name="Google Shape;75;p54"/>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76" name="Google Shape;76;p5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US"/>
              <a:t>‹#›</a:t>
            </a:fld>
            <a:endParaRPr/>
          </a:p>
        </p:txBody>
      </p:sp>
      <p:cxnSp>
        <p:nvCxnSpPr>
          <p:cNvPr id="79" name="Google Shape;79;p54"/>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5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55"/>
          <p:cNvSpPr txBox="1"/>
          <p:nvPr>
            <p:ph idx="1" type="body"/>
          </p:nvPr>
        </p:nvSpPr>
        <p:spPr>
          <a:xfrm rot="5400000">
            <a:off x="3872485" y="-562356"/>
            <a:ext cx="4023360" cy="9720073"/>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3" name="Google Shape;83;p5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5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6" name="Shape 86"/>
        <p:cNvGrpSpPr/>
        <p:nvPr/>
      </p:nvGrpSpPr>
      <p:grpSpPr>
        <a:xfrm>
          <a:off x="0" y="0"/>
          <a:ext cx="0" cy="0"/>
          <a:chOff x="0" y="0"/>
          <a:chExt cx="0" cy="0"/>
        </a:xfrm>
      </p:grpSpPr>
      <p:sp>
        <p:nvSpPr>
          <p:cNvPr id="87" name="Google Shape;87;p56"/>
          <p:cNvSpPr txBox="1"/>
          <p:nvPr>
            <p:ph type="title"/>
          </p:nvPr>
        </p:nvSpPr>
        <p:spPr>
          <a:xfrm rot="5400000">
            <a:off x="7334251"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56"/>
          <p:cNvSpPr txBox="1"/>
          <p:nvPr>
            <p:ph idx="1" type="body"/>
          </p:nvPr>
        </p:nvSpPr>
        <p:spPr>
          <a:xfrm rot="5400000">
            <a:off x="2076451"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9" name="Google Shape;89;p5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5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5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US"/>
              <a:t>‹#›</a:t>
            </a:fld>
            <a:endParaRPr/>
          </a:p>
        </p:txBody>
      </p:sp>
      <p:cxnSp>
        <p:nvCxnSpPr>
          <p:cNvPr id="92" name="Google Shape;92;p56"/>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5000"/>
              <a:buFont typeface="Twentieth Century"/>
              <a:buNone/>
              <a:defRPr b="0" i="0" sz="5000" u="none" cap="none" strike="noStrike">
                <a:solidFill>
                  <a:srgbClr val="0C0C0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5"/>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4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3" name="Google Shape;13;p4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4" name="Google Shape;14;p4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p>
        </p:txBody>
      </p:sp>
      <p:cxnSp>
        <p:nvCxnSpPr>
          <p:cNvPr id="15" name="Google Shape;15;p45"/>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7.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0"/>
          <p:cNvSpPr txBox="1"/>
          <p:nvPr>
            <p:ph type="ctrTitle"/>
          </p:nvPr>
        </p:nvSpPr>
        <p:spPr>
          <a:xfrm>
            <a:off x="457200" y="4960137"/>
            <a:ext cx="7772400" cy="1463040"/>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accent1"/>
              </a:buClr>
              <a:buSzPts val="3600"/>
              <a:buFont typeface="Gill Sans"/>
              <a:buNone/>
            </a:pPr>
            <a:r>
              <a:rPr lang="en-US"/>
              <a:t>INTRODUCTION TO PSYCHOLOGY (WEEK 1)</a:t>
            </a:r>
            <a:endParaRPr/>
          </a:p>
        </p:txBody>
      </p:sp>
      <p:sp>
        <p:nvSpPr>
          <p:cNvPr id="98" name="Google Shape;98;p10"/>
          <p:cNvSpPr/>
          <p:nvPr/>
        </p:nvSpPr>
        <p:spPr>
          <a:xfrm>
            <a:off x="8405091" y="4960137"/>
            <a:ext cx="3380509" cy="17543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BY: AQSA FAYYAZ </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Lecturer </a:t>
            </a:r>
            <a:endParaRPr/>
          </a:p>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(Science and Humanities)</a:t>
            </a:r>
            <a:endParaRPr/>
          </a:p>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FAST - National University of Computer &amp; Emerging Sciences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Tree>
  </p:cSld>
  <p:clrMapOvr>
    <a:masterClrMapping/>
  </p:clrMapOvr>
  <p:transition spd="slow" p14:dur="1500">
    <p:split orient="ver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1"/>
          <p:cNvSpPr txBox="1"/>
          <p:nvPr>
            <p:ph type="title"/>
          </p:nvPr>
        </p:nvSpPr>
        <p:spPr>
          <a:xfrm>
            <a:off x="1024128" y="174472"/>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lang="en-US"/>
              <a:t>LEARNING OUTCOMES</a:t>
            </a:r>
            <a:endParaRPr/>
          </a:p>
        </p:txBody>
      </p:sp>
      <p:sp>
        <p:nvSpPr>
          <p:cNvPr id="104" name="Google Shape;104;p11"/>
          <p:cNvSpPr txBox="1"/>
          <p:nvPr>
            <p:ph idx="1" type="body"/>
          </p:nvPr>
        </p:nvSpPr>
        <p:spPr>
          <a:xfrm>
            <a:off x="1024128" y="2286000"/>
            <a:ext cx="9720073" cy="4023360"/>
          </a:xfrm>
          <a:prstGeom prst="rect">
            <a:avLst/>
          </a:prstGeom>
          <a:noFill/>
          <a:ln>
            <a:noFill/>
          </a:ln>
        </p:spPr>
        <p:txBody>
          <a:bodyPr anchorCtr="0" anchor="ctr" bIns="45700" lIns="91425" spcFirstLastPara="1" rIns="91425" wrap="square" tIns="45700">
            <a:normAutofit/>
          </a:bodyPr>
          <a:lstStyle/>
          <a:p>
            <a:pPr indent="-200844" lvl="0" marL="306000" rtl="0" algn="l">
              <a:lnSpc>
                <a:spcPct val="90000"/>
              </a:lnSpc>
              <a:spcBef>
                <a:spcPts val="0"/>
              </a:spcBef>
              <a:spcAft>
                <a:spcPts val="0"/>
              </a:spcAft>
              <a:buSzPts val="1656"/>
              <a:buNone/>
            </a:pPr>
            <a:r>
              <a:t/>
            </a:r>
            <a:endParaRPr/>
          </a:p>
        </p:txBody>
      </p:sp>
      <p:grpSp>
        <p:nvGrpSpPr>
          <p:cNvPr id="105" name="Google Shape;105;p11"/>
          <p:cNvGrpSpPr/>
          <p:nvPr/>
        </p:nvGrpSpPr>
        <p:grpSpPr>
          <a:xfrm>
            <a:off x="590262" y="1945839"/>
            <a:ext cx="11029950" cy="4169111"/>
            <a:chOff x="0" y="4760"/>
            <a:chExt cx="11029950" cy="4169111"/>
          </a:xfrm>
        </p:grpSpPr>
        <p:sp>
          <p:nvSpPr>
            <p:cNvPr id="106" name="Google Shape;106;p11"/>
            <p:cNvSpPr/>
            <p:nvPr/>
          </p:nvSpPr>
          <p:spPr>
            <a:xfrm>
              <a:off x="0" y="393871"/>
              <a:ext cx="11029950" cy="378000"/>
            </a:xfrm>
            <a:prstGeom prst="rect">
              <a:avLst/>
            </a:prstGeom>
            <a:solidFill>
              <a:schemeClr val="lt2">
                <a:alpha val="89411"/>
              </a:schemeClr>
            </a:solidFill>
            <a:ln cap="rnd" cmpd="sng" w="12700">
              <a:solidFill>
                <a:schemeClr val="dk2"/>
              </a:solidFill>
              <a:prstDash val="solid"/>
              <a:round/>
              <a:headEnd len="sm" w="sm" type="none"/>
              <a:tailEnd len="sm" w="sm" type="none"/>
            </a:ln>
            <a:effectLst>
              <a:outerShdw blurRad="38100" rotWithShape="0" dir="5400000" dist="25400">
                <a:srgbClr val="000000">
                  <a:alpha val="5450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1"/>
            <p:cNvSpPr/>
            <p:nvPr/>
          </p:nvSpPr>
          <p:spPr>
            <a:xfrm>
              <a:off x="551497" y="4760"/>
              <a:ext cx="7720965" cy="610510"/>
            </a:xfrm>
            <a:prstGeom prst="roundRect">
              <a:avLst>
                <a:gd fmla="val 16667" name="adj"/>
              </a:avLst>
            </a:prstGeom>
            <a:gradFill>
              <a:gsLst>
                <a:gs pos="0">
                  <a:srgbClr val="4F4F4F"/>
                </a:gs>
                <a:gs pos="84000">
                  <a:srgbClr val="333333"/>
                </a:gs>
                <a:gs pos="100000">
                  <a:srgbClr val="333333"/>
                </a:gs>
              </a:gsLst>
              <a:lin ang="5400000" scaled="0"/>
            </a:gradFill>
            <a:ln>
              <a:noFill/>
            </a:ln>
            <a:effectLst>
              <a:outerShdw blurRad="38100" rotWithShape="0" dir="5400000" dist="25400">
                <a:srgbClr val="000000">
                  <a:alpha val="5450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1"/>
            <p:cNvSpPr txBox="1"/>
            <p:nvPr/>
          </p:nvSpPr>
          <p:spPr>
            <a:xfrm>
              <a:off x="581300" y="34563"/>
              <a:ext cx="7661359" cy="550904"/>
            </a:xfrm>
            <a:prstGeom prst="rect">
              <a:avLst/>
            </a:prstGeom>
            <a:noFill/>
            <a:ln>
              <a:noFill/>
            </a:ln>
          </p:spPr>
          <p:txBody>
            <a:bodyPr anchorCtr="0" anchor="ctr" bIns="0" lIns="291825" spcFirstLastPara="1" rIns="291825" wrap="square" tIns="0">
              <a:noAutofit/>
            </a:bodyPr>
            <a:lstStyle/>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Gill Sans"/>
                  <a:ea typeface="Gill Sans"/>
                  <a:cs typeface="Gill Sans"/>
                  <a:sym typeface="Gill Sans"/>
                </a:rPr>
                <a:t>Understanding the meaning of Psychology </a:t>
              </a:r>
              <a:endParaRPr b="0" i="0" sz="1800" u="none" cap="none" strike="noStrike">
                <a:solidFill>
                  <a:schemeClr val="lt1"/>
                </a:solidFill>
                <a:latin typeface="Gill Sans"/>
                <a:ea typeface="Gill Sans"/>
                <a:cs typeface="Gill Sans"/>
                <a:sym typeface="Gill Sans"/>
              </a:endParaRPr>
            </a:p>
          </p:txBody>
        </p:sp>
        <p:sp>
          <p:nvSpPr>
            <p:cNvPr id="109" name="Google Shape;109;p11"/>
            <p:cNvSpPr/>
            <p:nvPr/>
          </p:nvSpPr>
          <p:spPr>
            <a:xfrm>
              <a:off x="0" y="1074271"/>
              <a:ext cx="11029950" cy="378000"/>
            </a:xfrm>
            <a:prstGeom prst="rect">
              <a:avLst/>
            </a:prstGeom>
            <a:solidFill>
              <a:schemeClr val="lt2">
                <a:alpha val="89411"/>
              </a:schemeClr>
            </a:solidFill>
            <a:ln cap="rnd" cmpd="sng" w="12700">
              <a:solidFill>
                <a:schemeClr val="dk2"/>
              </a:solidFill>
              <a:prstDash val="solid"/>
              <a:round/>
              <a:headEnd len="sm" w="sm" type="none"/>
              <a:tailEnd len="sm" w="sm" type="none"/>
            </a:ln>
            <a:effectLst>
              <a:outerShdw blurRad="38100" rotWithShape="0" dir="5400000" dist="25400">
                <a:srgbClr val="000000">
                  <a:alpha val="5450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1"/>
            <p:cNvSpPr/>
            <p:nvPr/>
          </p:nvSpPr>
          <p:spPr>
            <a:xfrm>
              <a:off x="551497" y="852871"/>
              <a:ext cx="7720965" cy="442800"/>
            </a:xfrm>
            <a:prstGeom prst="roundRect">
              <a:avLst>
                <a:gd fmla="val 16667" name="adj"/>
              </a:avLst>
            </a:prstGeom>
            <a:gradFill>
              <a:gsLst>
                <a:gs pos="0">
                  <a:srgbClr val="4F4F4F"/>
                </a:gs>
                <a:gs pos="84000">
                  <a:srgbClr val="333333"/>
                </a:gs>
                <a:gs pos="100000">
                  <a:srgbClr val="333333"/>
                </a:gs>
              </a:gsLst>
              <a:lin ang="5400000" scaled="0"/>
            </a:gradFill>
            <a:ln>
              <a:noFill/>
            </a:ln>
            <a:effectLst>
              <a:outerShdw blurRad="38100" rotWithShape="0" dir="5400000" dist="25400">
                <a:srgbClr val="000000">
                  <a:alpha val="5450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1"/>
            <p:cNvSpPr txBox="1"/>
            <p:nvPr/>
          </p:nvSpPr>
          <p:spPr>
            <a:xfrm>
              <a:off x="573113" y="874487"/>
              <a:ext cx="7677733" cy="399568"/>
            </a:xfrm>
            <a:prstGeom prst="rect">
              <a:avLst/>
            </a:prstGeom>
            <a:noFill/>
            <a:ln>
              <a:noFill/>
            </a:ln>
          </p:spPr>
          <p:txBody>
            <a:bodyPr anchorCtr="0" anchor="ctr" bIns="0" lIns="291825" spcFirstLastPara="1" rIns="291825" wrap="square" tIns="0">
              <a:noAutofit/>
            </a:bodyPr>
            <a:lstStyle/>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Gill Sans"/>
                  <a:ea typeface="Gill Sans"/>
                  <a:cs typeface="Gill Sans"/>
                  <a:sym typeface="Gill Sans"/>
                </a:rPr>
                <a:t>Psychology as a science</a:t>
              </a:r>
              <a:endParaRPr b="0" i="0" sz="1800" u="none" cap="none" strike="noStrike">
                <a:solidFill>
                  <a:schemeClr val="lt1"/>
                </a:solidFill>
                <a:latin typeface="Times New Roman"/>
                <a:ea typeface="Times New Roman"/>
                <a:cs typeface="Times New Roman"/>
                <a:sym typeface="Times New Roman"/>
              </a:endParaRPr>
            </a:p>
          </p:txBody>
        </p:sp>
        <p:sp>
          <p:nvSpPr>
            <p:cNvPr id="112" name="Google Shape;112;p11"/>
            <p:cNvSpPr/>
            <p:nvPr/>
          </p:nvSpPr>
          <p:spPr>
            <a:xfrm>
              <a:off x="0" y="1754671"/>
              <a:ext cx="11029950" cy="378000"/>
            </a:xfrm>
            <a:prstGeom prst="rect">
              <a:avLst/>
            </a:prstGeom>
            <a:solidFill>
              <a:schemeClr val="lt2">
                <a:alpha val="89411"/>
              </a:schemeClr>
            </a:solidFill>
            <a:ln cap="rnd" cmpd="sng" w="12700">
              <a:solidFill>
                <a:schemeClr val="dk2"/>
              </a:solidFill>
              <a:prstDash val="solid"/>
              <a:round/>
              <a:headEnd len="sm" w="sm" type="none"/>
              <a:tailEnd len="sm" w="sm" type="none"/>
            </a:ln>
            <a:effectLst>
              <a:outerShdw blurRad="38100" rotWithShape="0" dir="5400000" dist="25400">
                <a:srgbClr val="000000">
                  <a:alpha val="5450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1"/>
            <p:cNvSpPr/>
            <p:nvPr/>
          </p:nvSpPr>
          <p:spPr>
            <a:xfrm>
              <a:off x="551497" y="1533271"/>
              <a:ext cx="7720965" cy="442800"/>
            </a:xfrm>
            <a:prstGeom prst="roundRect">
              <a:avLst>
                <a:gd fmla="val 16667" name="adj"/>
              </a:avLst>
            </a:prstGeom>
            <a:gradFill>
              <a:gsLst>
                <a:gs pos="0">
                  <a:srgbClr val="4F4F4F"/>
                </a:gs>
                <a:gs pos="84000">
                  <a:srgbClr val="333333"/>
                </a:gs>
                <a:gs pos="100000">
                  <a:srgbClr val="333333"/>
                </a:gs>
              </a:gsLst>
              <a:lin ang="5400000" scaled="0"/>
            </a:gradFill>
            <a:ln>
              <a:noFill/>
            </a:ln>
            <a:effectLst>
              <a:outerShdw blurRad="38100" rotWithShape="0" dir="5400000" dist="25400">
                <a:srgbClr val="000000">
                  <a:alpha val="5450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1"/>
            <p:cNvSpPr txBox="1"/>
            <p:nvPr/>
          </p:nvSpPr>
          <p:spPr>
            <a:xfrm>
              <a:off x="573113" y="1554887"/>
              <a:ext cx="7677733" cy="399568"/>
            </a:xfrm>
            <a:prstGeom prst="rect">
              <a:avLst/>
            </a:prstGeom>
            <a:noFill/>
            <a:ln>
              <a:noFill/>
            </a:ln>
          </p:spPr>
          <p:txBody>
            <a:bodyPr anchorCtr="0" anchor="ctr" bIns="0" lIns="291825" spcFirstLastPara="1" rIns="291825" wrap="square" tIns="0">
              <a:noAutofit/>
            </a:bodyPr>
            <a:lstStyle/>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Gill Sans"/>
                  <a:ea typeface="Gill Sans"/>
                  <a:cs typeface="Gill Sans"/>
                  <a:sym typeface="Gill Sans"/>
                </a:rPr>
                <a:t>Scope of psychology in everyday life </a:t>
              </a:r>
              <a:endParaRPr b="0" i="0" sz="1800" u="none" cap="none" strike="noStrike">
                <a:solidFill>
                  <a:schemeClr val="lt1"/>
                </a:solidFill>
                <a:latin typeface="Times New Roman"/>
                <a:ea typeface="Times New Roman"/>
                <a:cs typeface="Times New Roman"/>
                <a:sym typeface="Times New Roman"/>
              </a:endParaRPr>
            </a:p>
          </p:txBody>
        </p:sp>
        <p:sp>
          <p:nvSpPr>
            <p:cNvPr id="115" name="Google Shape;115;p11"/>
            <p:cNvSpPr/>
            <p:nvPr/>
          </p:nvSpPr>
          <p:spPr>
            <a:xfrm>
              <a:off x="0" y="2831689"/>
              <a:ext cx="11029950" cy="378000"/>
            </a:xfrm>
            <a:prstGeom prst="rect">
              <a:avLst/>
            </a:prstGeom>
            <a:solidFill>
              <a:schemeClr val="lt2">
                <a:alpha val="89411"/>
              </a:schemeClr>
            </a:solidFill>
            <a:ln cap="rnd" cmpd="sng" w="12700">
              <a:solidFill>
                <a:schemeClr val="dk2"/>
              </a:solidFill>
              <a:prstDash val="solid"/>
              <a:round/>
              <a:headEnd len="sm" w="sm" type="none"/>
              <a:tailEnd len="sm" w="sm" type="none"/>
            </a:ln>
            <a:effectLst>
              <a:outerShdw blurRad="38100" rotWithShape="0" dir="5400000" dist="25400">
                <a:srgbClr val="000000">
                  <a:alpha val="5450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1"/>
            <p:cNvSpPr/>
            <p:nvPr/>
          </p:nvSpPr>
          <p:spPr>
            <a:xfrm>
              <a:off x="551497" y="2213671"/>
              <a:ext cx="7720965" cy="442800"/>
            </a:xfrm>
            <a:prstGeom prst="roundRect">
              <a:avLst>
                <a:gd fmla="val 16667" name="adj"/>
              </a:avLst>
            </a:prstGeom>
            <a:gradFill>
              <a:gsLst>
                <a:gs pos="0">
                  <a:srgbClr val="4F4F4F"/>
                </a:gs>
                <a:gs pos="84000">
                  <a:srgbClr val="333333"/>
                </a:gs>
                <a:gs pos="100000">
                  <a:srgbClr val="333333"/>
                </a:gs>
              </a:gsLst>
              <a:lin ang="5400000" scaled="0"/>
            </a:gradFill>
            <a:ln>
              <a:noFill/>
            </a:ln>
            <a:effectLst>
              <a:outerShdw blurRad="38100" rotWithShape="0" dir="5400000" dist="25400">
                <a:srgbClr val="000000">
                  <a:alpha val="5450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1"/>
            <p:cNvSpPr txBox="1"/>
            <p:nvPr/>
          </p:nvSpPr>
          <p:spPr>
            <a:xfrm>
              <a:off x="573113" y="2235287"/>
              <a:ext cx="7677733" cy="399568"/>
            </a:xfrm>
            <a:prstGeom prst="rect">
              <a:avLst/>
            </a:prstGeom>
            <a:noFill/>
            <a:ln>
              <a:noFill/>
            </a:ln>
          </p:spPr>
          <p:txBody>
            <a:bodyPr anchorCtr="0" anchor="ctr" bIns="0" lIns="291825" spcFirstLastPara="1" rIns="291825" wrap="square" tIns="0">
              <a:noAutofit/>
            </a:bodyPr>
            <a:lstStyle/>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Gill Sans"/>
                  <a:ea typeface="Gill Sans"/>
                  <a:cs typeface="Gill Sans"/>
                  <a:sym typeface="Gill Sans"/>
                </a:rPr>
                <a:t>Goals of Psychology </a:t>
              </a:r>
              <a:endParaRPr b="0" i="0" sz="1800" u="none" cap="none" strike="noStrike">
                <a:solidFill>
                  <a:schemeClr val="lt1"/>
                </a:solidFill>
                <a:latin typeface="Times New Roman"/>
                <a:ea typeface="Times New Roman"/>
                <a:cs typeface="Times New Roman"/>
                <a:sym typeface="Times New Roman"/>
              </a:endParaRPr>
            </a:p>
          </p:txBody>
        </p:sp>
        <p:sp>
          <p:nvSpPr>
            <p:cNvPr id="118" name="Google Shape;118;p11"/>
            <p:cNvSpPr/>
            <p:nvPr/>
          </p:nvSpPr>
          <p:spPr>
            <a:xfrm>
              <a:off x="0" y="3115471"/>
              <a:ext cx="11029950" cy="378000"/>
            </a:xfrm>
            <a:prstGeom prst="rect">
              <a:avLst/>
            </a:prstGeom>
            <a:solidFill>
              <a:schemeClr val="lt2">
                <a:alpha val="89411"/>
              </a:schemeClr>
            </a:solidFill>
            <a:ln cap="rnd" cmpd="sng" w="12700">
              <a:solidFill>
                <a:schemeClr val="dk2"/>
              </a:solidFill>
              <a:prstDash val="solid"/>
              <a:round/>
              <a:headEnd len="sm" w="sm" type="none"/>
              <a:tailEnd len="sm" w="sm" type="none"/>
            </a:ln>
            <a:effectLst>
              <a:outerShdw blurRad="38100" rotWithShape="0" dir="5400000" dist="25400">
                <a:srgbClr val="000000">
                  <a:alpha val="5450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1"/>
            <p:cNvSpPr/>
            <p:nvPr/>
          </p:nvSpPr>
          <p:spPr>
            <a:xfrm>
              <a:off x="551497" y="2894071"/>
              <a:ext cx="7720965" cy="442800"/>
            </a:xfrm>
            <a:prstGeom prst="roundRect">
              <a:avLst>
                <a:gd fmla="val 16667" name="adj"/>
              </a:avLst>
            </a:prstGeom>
            <a:gradFill>
              <a:gsLst>
                <a:gs pos="0">
                  <a:srgbClr val="4F4F4F"/>
                </a:gs>
                <a:gs pos="84000">
                  <a:srgbClr val="333333"/>
                </a:gs>
                <a:gs pos="100000">
                  <a:srgbClr val="333333"/>
                </a:gs>
              </a:gsLst>
              <a:lin ang="5400000" scaled="0"/>
            </a:gradFill>
            <a:ln>
              <a:noFill/>
            </a:ln>
            <a:effectLst>
              <a:outerShdw blurRad="38100" rotWithShape="0" dir="5400000" dist="25400">
                <a:srgbClr val="000000">
                  <a:alpha val="5450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1"/>
            <p:cNvSpPr txBox="1"/>
            <p:nvPr/>
          </p:nvSpPr>
          <p:spPr>
            <a:xfrm>
              <a:off x="573113" y="2915687"/>
              <a:ext cx="7677733" cy="399568"/>
            </a:xfrm>
            <a:prstGeom prst="rect">
              <a:avLst/>
            </a:prstGeom>
            <a:noFill/>
            <a:ln>
              <a:noFill/>
            </a:ln>
          </p:spPr>
          <p:txBody>
            <a:bodyPr anchorCtr="0" anchor="ctr" bIns="0" lIns="291825" spcFirstLastPara="1" rIns="291825" wrap="square" tIns="0">
              <a:noAutofit/>
            </a:bodyPr>
            <a:lstStyle/>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Gill Sans"/>
                  <a:ea typeface="Gill Sans"/>
                  <a:cs typeface="Gill Sans"/>
                  <a:sym typeface="Gill Sans"/>
                </a:rPr>
                <a:t>Key debates in Psychology</a:t>
              </a:r>
              <a:endParaRPr b="0" i="0" sz="1800" u="none" cap="none" strike="noStrike">
                <a:solidFill>
                  <a:schemeClr val="lt1"/>
                </a:solidFill>
                <a:latin typeface="Gill Sans"/>
                <a:ea typeface="Gill Sans"/>
                <a:cs typeface="Gill Sans"/>
                <a:sym typeface="Gill Sans"/>
              </a:endParaRPr>
            </a:p>
          </p:txBody>
        </p:sp>
        <p:sp>
          <p:nvSpPr>
            <p:cNvPr id="121" name="Google Shape;121;p11"/>
            <p:cNvSpPr/>
            <p:nvPr/>
          </p:nvSpPr>
          <p:spPr>
            <a:xfrm>
              <a:off x="0" y="3795871"/>
              <a:ext cx="11029950" cy="378000"/>
            </a:xfrm>
            <a:prstGeom prst="rect">
              <a:avLst/>
            </a:prstGeom>
            <a:solidFill>
              <a:schemeClr val="lt2">
                <a:alpha val="89411"/>
              </a:schemeClr>
            </a:solidFill>
            <a:ln cap="rnd" cmpd="sng" w="12700">
              <a:solidFill>
                <a:schemeClr val="dk2"/>
              </a:solidFill>
              <a:prstDash val="solid"/>
              <a:round/>
              <a:headEnd len="sm" w="sm" type="none"/>
              <a:tailEnd len="sm" w="sm" type="none"/>
            </a:ln>
            <a:effectLst>
              <a:outerShdw blurRad="38100" rotWithShape="0" dir="5400000" dist="25400">
                <a:srgbClr val="000000">
                  <a:alpha val="5450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1"/>
            <p:cNvSpPr/>
            <p:nvPr/>
          </p:nvSpPr>
          <p:spPr>
            <a:xfrm>
              <a:off x="551497" y="3574471"/>
              <a:ext cx="7720965" cy="442800"/>
            </a:xfrm>
            <a:prstGeom prst="roundRect">
              <a:avLst>
                <a:gd fmla="val 16667" name="adj"/>
              </a:avLst>
            </a:prstGeom>
            <a:gradFill>
              <a:gsLst>
                <a:gs pos="0">
                  <a:srgbClr val="4F4F4F"/>
                </a:gs>
                <a:gs pos="84000">
                  <a:srgbClr val="333333"/>
                </a:gs>
                <a:gs pos="100000">
                  <a:srgbClr val="333333"/>
                </a:gs>
              </a:gsLst>
              <a:lin ang="5400000" scaled="0"/>
            </a:gradFill>
            <a:ln>
              <a:noFill/>
            </a:ln>
            <a:effectLst>
              <a:outerShdw blurRad="38100" rotWithShape="0" dir="5400000" dist="25400">
                <a:srgbClr val="000000">
                  <a:alpha val="5450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1"/>
            <p:cNvSpPr txBox="1"/>
            <p:nvPr/>
          </p:nvSpPr>
          <p:spPr>
            <a:xfrm>
              <a:off x="573113" y="3596087"/>
              <a:ext cx="7677733" cy="399568"/>
            </a:xfrm>
            <a:prstGeom prst="rect">
              <a:avLst/>
            </a:prstGeom>
            <a:noFill/>
            <a:ln>
              <a:noFill/>
            </a:ln>
          </p:spPr>
          <p:txBody>
            <a:bodyPr anchorCtr="0" anchor="ctr" bIns="0" lIns="291825" spcFirstLastPara="1" rIns="291825" wrap="square" tIns="0">
              <a:noAutofit/>
            </a:bodyPr>
            <a:lstStyle/>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Gill Sans"/>
                  <a:ea typeface="Gill Sans"/>
                  <a:cs typeface="Gill Sans"/>
                  <a:sym typeface="Gill Sans"/>
                </a:rPr>
                <a:t>Branches of Psychology</a:t>
              </a:r>
              <a:endParaRPr b="0" i="0" sz="1800" u="none" cap="none" strike="noStrike">
                <a:solidFill>
                  <a:schemeClr val="lt1"/>
                </a:solidFill>
                <a:latin typeface="Gill Sans"/>
                <a:ea typeface="Gill Sans"/>
                <a:cs typeface="Gill Sans"/>
                <a:sym typeface="Gill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000"/>
                                        <p:tgtEl>
                                          <p:spTgt spid="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1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9" name="Google Shape;129;p12"/>
          <p:cNvSpPr txBox="1"/>
          <p:nvPr>
            <p:ph type="title"/>
          </p:nvPr>
        </p:nvSpPr>
        <p:spPr>
          <a:xfrm>
            <a:off x="5661892" y="4755708"/>
            <a:ext cx="6694054" cy="1499616"/>
          </a:xfrm>
          <a:prstGeom prst="rect">
            <a:avLst/>
          </a:prstGeom>
          <a:noFill/>
          <a:ln>
            <a:noFill/>
          </a:ln>
        </p:spPr>
        <p:txBody>
          <a:bodyPr anchorCtr="0" anchor="b" bIns="45700" lIns="91425" spcFirstLastPara="1" rIns="91425" wrap="square" tIns="45700">
            <a:normAutofit/>
          </a:bodyPr>
          <a:lstStyle/>
          <a:p>
            <a:pPr indent="0" lvl="0" marL="0" rtl="0" algn="ctr">
              <a:lnSpc>
                <a:spcPct val="80000"/>
              </a:lnSpc>
              <a:spcBef>
                <a:spcPts val="0"/>
              </a:spcBef>
              <a:spcAft>
                <a:spcPts val="0"/>
              </a:spcAft>
              <a:buClr>
                <a:schemeClr val="lt1"/>
              </a:buClr>
              <a:buSzPts val="2800"/>
              <a:buFont typeface="Gill Sans"/>
              <a:buNone/>
            </a:pPr>
            <a:r>
              <a:rPr b="1" lang="en-US"/>
              <a:t>WHAT IS PSYCHOLOGY?</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13"/>
          <p:cNvPicPr preferRelativeResize="0"/>
          <p:nvPr/>
        </p:nvPicPr>
        <p:blipFill rotWithShape="1">
          <a:blip r:embed="rId3">
            <a:alphaModFix/>
          </a:blip>
          <a:srcRect b="0" l="0" r="0" t="0"/>
          <a:stretch/>
        </p:blipFill>
        <p:spPr>
          <a:xfrm>
            <a:off x="10250957" y="1982391"/>
            <a:ext cx="1537442" cy="1316253"/>
          </a:xfrm>
          <a:prstGeom prst="ellipse">
            <a:avLst/>
          </a:prstGeom>
          <a:noFill/>
          <a:ln>
            <a:noFill/>
          </a:ln>
        </p:spPr>
      </p:pic>
      <p:pic>
        <p:nvPicPr>
          <p:cNvPr id="135" name="Google Shape;135;p13"/>
          <p:cNvPicPr preferRelativeResize="0"/>
          <p:nvPr/>
        </p:nvPicPr>
        <p:blipFill rotWithShape="1">
          <a:blip r:embed="rId4">
            <a:alphaModFix/>
          </a:blip>
          <a:srcRect b="0" l="0" r="0" t="0"/>
          <a:stretch/>
        </p:blipFill>
        <p:spPr>
          <a:xfrm>
            <a:off x="10194487" y="4341311"/>
            <a:ext cx="1650381" cy="1439779"/>
          </a:xfrm>
          <a:prstGeom prst="ellipse">
            <a:avLst/>
          </a:prstGeom>
          <a:noFill/>
          <a:ln>
            <a:noFill/>
          </a:ln>
        </p:spPr>
      </p:pic>
      <p:sp>
        <p:nvSpPr>
          <p:cNvPr id="136" name="Google Shape;136;p13"/>
          <p:cNvSpPr txBox="1"/>
          <p:nvPr/>
        </p:nvSpPr>
        <p:spPr>
          <a:xfrm>
            <a:off x="4113876" y="254000"/>
            <a:ext cx="7730992" cy="5689599"/>
          </a:xfrm>
          <a:prstGeom prst="rect">
            <a:avLst/>
          </a:prstGeom>
          <a:noFill/>
          <a:ln>
            <a:noFill/>
          </a:ln>
        </p:spPr>
        <p:txBody>
          <a:bodyPr anchorCtr="0" anchor="ctr" bIns="45700" lIns="91425" spcFirstLastPara="1" rIns="91425" wrap="square" tIns="45700">
            <a:normAutofit/>
          </a:bodyPr>
          <a:lstStyle/>
          <a:p>
            <a:pPr indent="-306000" lvl="0" marL="306000" marR="0" rtl="0" algn="just">
              <a:lnSpc>
                <a:spcPct val="100000"/>
              </a:lnSpc>
              <a:spcBef>
                <a:spcPts val="0"/>
              </a:spcBef>
              <a:spcAft>
                <a:spcPts val="0"/>
              </a:spcAft>
              <a:buClr>
                <a:schemeClr val="accent2"/>
              </a:buClr>
              <a:buSzPts val="1656"/>
              <a:buFont typeface="Noto Sans Symbols"/>
              <a:buChar char="◼"/>
            </a:pPr>
            <a:r>
              <a:rPr b="0" i="0" lang="en-US" sz="2400" u="none" cap="none" strike="noStrike">
                <a:solidFill>
                  <a:schemeClr val="dk1"/>
                </a:solidFill>
                <a:latin typeface="Times New Roman"/>
                <a:ea typeface="Times New Roman"/>
                <a:cs typeface="Times New Roman"/>
                <a:sym typeface="Times New Roman"/>
              </a:rPr>
              <a:t>Psychology is the </a:t>
            </a:r>
            <a:r>
              <a:rPr b="0" i="0" lang="en-US" sz="2400" u="none" cap="none" strike="noStrike">
                <a:solidFill>
                  <a:srgbClr val="FF0000"/>
                </a:solidFill>
                <a:latin typeface="Times New Roman"/>
                <a:ea typeface="Times New Roman"/>
                <a:cs typeface="Times New Roman"/>
                <a:sym typeface="Times New Roman"/>
              </a:rPr>
              <a:t>scientific </a:t>
            </a:r>
            <a:r>
              <a:rPr b="0" i="0" lang="en-US" sz="2400" u="none" cap="none" strike="noStrike">
                <a:solidFill>
                  <a:schemeClr val="dk1"/>
                </a:solidFill>
                <a:latin typeface="Times New Roman"/>
                <a:ea typeface="Times New Roman"/>
                <a:cs typeface="Times New Roman"/>
                <a:sym typeface="Times New Roman"/>
              </a:rPr>
              <a:t>study of </a:t>
            </a:r>
            <a:r>
              <a:rPr b="0" i="0" lang="en-US" sz="2400" u="none" cap="none" strike="noStrike">
                <a:solidFill>
                  <a:srgbClr val="FF0000"/>
                </a:solidFill>
                <a:latin typeface="Times New Roman"/>
                <a:ea typeface="Times New Roman"/>
                <a:cs typeface="Times New Roman"/>
                <a:sym typeface="Times New Roman"/>
              </a:rPr>
              <a:t>behavior </a:t>
            </a:r>
            <a:r>
              <a:rPr b="0" i="0" lang="en-US" sz="2400" u="none" cap="none" strike="noStrike">
                <a:solidFill>
                  <a:schemeClr val="dk1"/>
                </a:solidFill>
                <a:latin typeface="Times New Roman"/>
                <a:ea typeface="Times New Roman"/>
                <a:cs typeface="Times New Roman"/>
                <a:sym typeface="Times New Roman"/>
              </a:rPr>
              <a:t>and</a:t>
            </a:r>
            <a:r>
              <a:rPr b="0" i="0" lang="en-US" sz="2400" u="none" cap="none" strike="noStrike">
                <a:solidFill>
                  <a:schemeClr val="dk2"/>
                </a:solidFill>
                <a:latin typeface="Times New Roman"/>
                <a:ea typeface="Times New Roman"/>
                <a:cs typeface="Times New Roman"/>
                <a:sym typeface="Times New Roman"/>
              </a:rPr>
              <a:t> </a:t>
            </a:r>
            <a:r>
              <a:rPr b="0" i="0" lang="en-US" sz="2400" u="none" cap="none" strike="noStrike">
                <a:solidFill>
                  <a:srgbClr val="FF0000"/>
                </a:solidFill>
                <a:latin typeface="Times New Roman"/>
                <a:ea typeface="Times New Roman"/>
                <a:cs typeface="Times New Roman"/>
                <a:sym typeface="Times New Roman"/>
              </a:rPr>
              <a:t>mental processes.</a:t>
            </a:r>
            <a:r>
              <a:rPr b="0" i="0" lang="en-US" sz="2400" u="none" cap="none" strike="noStrike">
                <a:solidFill>
                  <a:schemeClr val="dk2"/>
                </a:solidFill>
                <a:latin typeface="Times New Roman"/>
                <a:ea typeface="Times New Roman"/>
                <a:cs typeface="Times New Roman"/>
                <a:sym typeface="Times New Roman"/>
              </a:rPr>
              <a:t> </a:t>
            </a:r>
            <a:endParaRPr b="0" i="0" sz="1800" u="none" cap="none" strike="noStrike">
              <a:solidFill>
                <a:srgbClr val="000000"/>
              </a:solidFill>
              <a:latin typeface="Arial"/>
              <a:ea typeface="Arial"/>
              <a:cs typeface="Arial"/>
              <a:sym typeface="Arial"/>
            </a:endParaRPr>
          </a:p>
          <a:p>
            <a:pPr indent="-306000" lvl="0" marL="306000" marR="0" rtl="0" algn="l">
              <a:lnSpc>
                <a:spcPct val="100000"/>
              </a:lnSpc>
              <a:spcBef>
                <a:spcPts val="960"/>
              </a:spcBef>
              <a:spcAft>
                <a:spcPts val="0"/>
              </a:spcAft>
              <a:buClr>
                <a:schemeClr val="accent2"/>
              </a:buClr>
              <a:buSzPts val="1656"/>
              <a:buFont typeface="Noto Sans Symbols"/>
              <a:buChar char="◼"/>
            </a:pPr>
            <a:r>
              <a:rPr b="0" i="0" lang="en-US" sz="2400" u="none" cap="none" strike="noStrike">
                <a:solidFill>
                  <a:schemeClr val="dk1"/>
                </a:solidFill>
                <a:latin typeface="Times New Roman"/>
                <a:ea typeface="Times New Roman"/>
                <a:cs typeface="Times New Roman"/>
                <a:sym typeface="Times New Roman"/>
              </a:rPr>
              <a:t>Behavior: Outward or overt actions and reactions (observable)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960"/>
              </a:spcBef>
              <a:spcAft>
                <a:spcPts val="0"/>
              </a:spcAft>
              <a:buClr>
                <a:schemeClr val="accent2"/>
              </a:buClr>
              <a:buSzPts val="1656"/>
              <a:buFont typeface="Noto Sans Symbols"/>
              <a:buNone/>
            </a:pPr>
            <a:r>
              <a:rPr b="0" i="0" lang="en-US" sz="2400" u="none" cap="none" strike="noStrike">
                <a:solidFill>
                  <a:schemeClr val="dk1"/>
                </a:solidFill>
                <a:latin typeface="Times New Roman"/>
                <a:ea typeface="Times New Roman"/>
                <a:cs typeface="Times New Roman"/>
                <a:sym typeface="Times New Roman"/>
              </a:rPr>
              <a:t>Example: running, smiling, dancing, talking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960"/>
              </a:spcBef>
              <a:spcAft>
                <a:spcPts val="0"/>
              </a:spcAft>
              <a:buClr>
                <a:schemeClr val="accent2"/>
              </a:buClr>
              <a:buSzPts val="1656"/>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06000" lvl="0" marL="306000" marR="0" rtl="0" algn="l">
              <a:lnSpc>
                <a:spcPct val="100000"/>
              </a:lnSpc>
              <a:spcBef>
                <a:spcPts val="960"/>
              </a:spcBef>
              <a:spcAft>
                <a:spcPts val="0"/>
              </a:spcAft>
              <a:buClr>
                <a:schemeClr val="accent2"/>
              </a:buClr>
              <a:buSzPts val="1656"/>
              <a:buFont typeface="Noto Sans Symbols"/>
              <a:buChar char="◼"/>
            </a:pPr>
            <a:r>
              <a:rPr b="0" i="0" lang="en-US" sz="2400" u="none" cap="none" strike="noStrike">
                <a:solidFill>
                  <a:schemeClr val="dk1"/>
                </a:solidFill>
                <a:latin typeface="Times New Roman"/>
                <a:ea typeface="Times New Roman"/>
                <a:cs typeface="Times New Roman"/>
                <a:sym typeface="Times New Roman"/>
              </a:rPr>
              <a:t>Mental Processes: all internal, covert activity of mind (hidden)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960"/>
              </a:spcBef>
              <a:spcAft>
                <a:spcPts val="0"/>
              </a:spcAft>
              <a:buClr>
                <a:schemeClr val="accent2"/>
              </a:buClr>
              <a:buSzPts val="1656"/>
              <a:buFont typeface="Noto Sans Symbols"/>
              <a:buNone/>
            </a:pPr>
            <a:r>
              <a:rPr b="0" i="0" lang="en-US" sz="2400" u="none" cap="none" strike="noStrike">
                <a:solidFill>
                  <a:schemeClr val="dk1"/>
                </a:solidFill>
                <a:latin typeface="Times New Roman"/>
                <a:ea typeface="Times New Roman"/>
                <a:cs typeface="Times New Roman"/>
                <a:sym typeface="Times New Roman"/>
              </a:rPr>
              <a:t>Example: thoughts, dreaming, sensations, feelings</a:t>
            </a:r>
            <a:endParaRPr b="0" i="0" sz="1800" u="none" cap="none" strike="noStrike">
              <a:solidFill>
                <a:srgbClr val="000000"/>
              </a:solidFill>
              <a:latin typeface="Arial"/>
              <a:ea typeface="Arial"/>
              <a:cs typeface="Arial"/>
              <a:sym typeface="Arial"/>
            </a:endParaRPr>
          </a:p>
          <a:p>
            <a:pPr indent="-200844" lvl="0" marL="306000" marR="0" rtl="0" algn="just">
              <a:lnSpc>
                <a:spcPct val="100000"/>
              </a:lnSpc>
              <a:spcBef>
                <a:spcPts val="960"/>
              </a:spcBef>
              <a:spcAft>
                <a:spcPts val="0"/>
              </a:spcAft>
              <a:buClr>
                <a:schemeClr val="accent2"/>
              </a:buClr>
              <a:buSzPts val="1656"/>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200844" lvl="0" marL="306000" marR="0" rtl="0" algn="l">
              <a:lnSpc>
                <a:spcPct val="100000"/>
              </a:lnSpc>
              <a:spcBef>
                <a:spcPts val="960"/>
              </a:spcBef>
              <a:spcAft>
                <a:spcPts val="0"/>
              </a:spcAft>
              <a:buClr>
                <a:schemeClr val="accent2"/>
              </a:buClr>
              <a:buSzPts val="1656"/>
              <a:buFont typeface="Noto Sans Symbols"/>
              <a:buNone/>
            </a:pPr>
            <a:r>
              <a:t/>
            </a:r>
            <a:endParaRPr b="0" i="0" sz="1800" u="none" cap="none" strike="noStrike">
              <a:solidFill>
                <a:schemeClr val="dk2"/>
              </a:solidFill>
              <a:latin typeface="Gill Sans"/>
              <a:ea typeface="Gill Sans"/>
              <a:cs typeface="Gill Sans"/>
              <a:sym typeface="Gill Sans"/>
            </a:endParaRPr>
          </a:p>
        </p:txBody>
      </p:sp>
      <p:pic>
        <p:nvPicPr>
          <p:cNvPr id="137" name="Google Shape;137;p13"/>
          <p:cNvPicPr preferRelativeResize="0"/>
          <p:nvPr/>
        </p:nvPicPr>
        <p:blipFill rotWithShape="1">
          <a:blip r:embed="rId5">
            <a:alphaModFix/>
          </a:blip>
          <a:srcRect b="0" l="0" r="0" t="0"/>
          <a:stretch/>
        </p:blipFill>
        <p:spPr>
          <a:xfrm>
            <a:off x="297184" y="1182278"/>
            <a:ext cx="3816692" cy="4403875"/>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pic>
        <p:nvPicPr>
          <p:cNvPr id="138" name="Google Shape;138;p13"/>
          <p:cNvPicPr preferRelativeResize="0"/>
          <p:nvPr/>
        </p:nvPicPr>
        <p:blipFill rotWithShape="1">
          <a:blip r:embed="rId6">
            <a:alphaModFix/>
          </a:blip>
          <a:srcRect b="0" l="0" r="0" t="0"/>
          <a:stretch/>
        </p:blipFill>
        <p:spPr>
          <a:xfrm>
            <a:off x="7680961" y="4932573"/>
            <a:ext cx="1963784" cy="1963784"/>
          </a:xfrm>
          <a:prstGeom prst="ellipse">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type="title"/>
          </p:nvPr>
        </p:nvSpPr>
        <p:spPr>
          <a:xfrm>
            <a:off x="1024128" y="585216"/>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lang="en-US"/>
              <a:t>CONT.…</a:t>
            </a:r>
            <a:endParaRPr/>
          </a:p>
        </p:txBody>
      </p:sp>
      <p:sp>
        <p:nvSpPr>
          <p:cNvPr id="144" name="Google Shape;144;p14"/>
          <p:cNvSpPr txBox="1"/>
          <p:nvPr>
            <p:ph idx="1" type="body"/>
          </p:nvPr>
        </p:nvSpPr>
        <p:spPr>
          <a:xfrm>
            <a:off x="1218091" y="2382982"/>
            <a:ext cx="9720073" cy="2947324"/>
          </a:xfrm>
          <a:prstGeom prst="rect">
            <a:avLst/>
          </a:prstGeom>
          <a:noFill/>
          <a:ln>
            <a:noFill/>
          </a:ln>
        </p:spPr>
        <p:txBody>
          <a:bodyPr anchorCtr="0" anchor="ctr" bIns="45700" lIns="91425" spcFirstLastPara="1" rIns="91425" wrap="square" tIns="45700">
            <a:normAutofit/>
          </a:bodyPr>
          <a:lstStyle/>
          <a:p>
            <a:pPr indent="-306000" lvl="0" marL="306000" rtl="0" algn="just">
              <a:lnSpc>
                <a:spcPct val="90000"/>
              </a:lnSpc>
              <a:spcBef>
                <a:spcPts val="0"/>
              </a:spcBef>
              <a:spcAft>
                <a:spcPts val="0"/>
              </a:spcAft>
              <a:buSzPts val="1656"/>
              <a:buChar char="◼"/>
            </a:pPr>
            <a:r>
              <a:rPr lang="en-US">
                <a:solidFill>
                  <a:schemeClr val="dk1"/>
                </a:solidFill>
                <a:latin typeface="Times New Roman"/>
                <a:ea typeface="Times New Roman"/>
                <a:cs typeface="Times New Roman"/>
                <a:sym typeface="Times New Roman"/>
              </a:rPr>
              <a:t>The word "psychology" comes from the Greek word psyche meaning "breath, spirit, soul", and the Greek word logos meaning the study of something. </a:t>
            </a:r>
            <a:endParaRPr/>
          </a:p>
          <a:p>
            <a:pPr indent="0" lvl="0" marL="0" rtl="0" algn="just">
              <a:lnSpc>
                <a:spcPct val="90000"/>
              </a:lnSpc>
              <a:spcBef>
                <a:spcPts val="0"/>
              </a:spcBef>
              <a:spcAft>
                <a:spcPts val="0"/>
              </a:spcAft>
              <a:buSzPts val="1656"/>
              <a:buNone/>
            </a:pPr>
            <a:r>
              <a:rPr lang="en-US">
                <a:solidFill>
                  <a:schemeClr val="dk1"/>
                </a:solidFill>
                <a:latin typeface="Times New Roman"/>
                <a:ea typeface="Times New Roman"/>
                <a:cs typeface="Times New Roman"/>
                <a:sym typeface="Times New Roman"/>
              </a:rPr>
              <a:t>     Thus we can conclude that psychology is the study of soul.</a:t>
            </a:r>
            <a:endParaRPr/>
          </a:p>
          <a:p>
            <a:pPr indent="0" lvl="0" marL="0" rtl="0" algn="just">
              <a:lnSpc>
                <a:spcPct val="90000"/>
              </a:lnSpc>
              <a:spcBef>
                <a:spcPts val="0"/>
              </a:spcBef>
              <a:spcAft>
                <a:spcPts val="0"/>
              </a:spcAft>
              <a:buSzPts val="1656"/>
              <a:buNone/>
            </a:pPr>
            <a:r>
              <a:t/>
            </a:r>
            <a:endParaRPr/>
          </a:p>
          <a:p>
            <a:pPr indent="-306000" lvl="0" marL="306000" rtl="0" algn="just">
              <a:lnSpc>
                <a:spcPct val="90000"/>
              </a:lnSpc>
              <a:spcBef>
                <a:spcPts val="960"/>
              </a:spcBef>
              <a:spcAft>
                <a:spcPts val="0"/>
              </a:spcAft>
              <a:buSzPts val="1656"/>
              <a:buChar char="◼"/>
            </a:pPr>
            <a:r>
              <a:rPr lang="en-US">
                <a:solidFill>
                  <a:schemeClr val="dk1"/>
                </a:solidFill>
                <a:latin typeface="Times New Roman"/>
                <a:ea typeface="Times New Roman"/>
                <a:cs typeface="Times New Roman"/>
                <a:sym typeface="Times New Roman"/>
              </a:rPr>
              <a:t>Psychology is an offspring of subject </a:t>
            </a:r>
            <a:r>
              <a:rPr lang="en-US">
                <a:solidFill>
                  <a:srgbClr val="FF0000"/>
                </a:solidFill>
                <a:latin typeface="Times New Roman"/>
                <a:ea typeface="Times New Roman"/>
                <a:cs typeface="Times New Roman"/>
                <a:sym typeface="Times New Roman"/>
              </a:rPr>
              <a:t>philosophy.</a:t>
            </a:r>
            <a:endParaRPr/>
          </a:p>
          <a:p>
            <a:pPr indent="-200844" lvl="0" marL="306000" rtl="0" algn="l">
              <a:lnSpc>
                <a:spcPct val="90000"/>
              </a:lnSpc>
              <a:spcBef>
                <a:spcPts val="960"/>
              </a:spcBef>
              <a:spcAft>
                <a:spcPts val="0"/>
              </a:spcAft>
              <a:buSzPts val="1656"/>
              <a:buNone/>
            </a:pPr>
            <a:r>
              <a:t/>
            </a:r>
            <a:endParaRPr>
              <a:latin typeface="Times New Roman"/>
              <a:ea typeface="Times New Roman"/>
              <a:cs typeface="Times New Roman"/>
              <a:sym typeface="Times New Roman"/>
            </a:endParaRPr>
          </a:p>
        </p:txBody>
      </p:sp>
      <p:pic>
        <p:nvPicPr>
          <p:cNvPr id="145" name="Google Shape;145;p14"/>
          <p:cNvPicPr preferRelativeResize="0"/>
          <p:nvPr/>
        </p:nvPicPr>
        <p:blipFill rotWithShape="1">
          <a:blip r:embed="rId3">
            <a:alphaModFix/>
          </a:blip>
          <a:srcRect b="0" l="0" r="0" t="0"/>
          <a:stretch/>
        </p:blipFill>
        <p:spPr>
          <a:xfrm>
            <a:off x="5612384" y="4109997"/>
            <a:ext cx="6696363" cy="2678915"/>
          </a:xfrm>
          <a:prstGeom prst="ellipse">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5"/>
          <p:cNvSpPr txBox="1"/>
          <p:nvPr>
            <p:ph type="title"/>
          </p:nvPr>
        </p:nvSpPr>
        <p:spPr>
          <a:xfrm>
            <a:off x="1024128" y="0"/>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lang="en-US"/>
              <a:t>PSYCHOLOGY AS A SCIENCE</a:t>
            </a:r>
            <a:endParaRPr/>
          </a:p>
        </p:txBody>
      </p:sp>
      <p:sp>
        <p:nvSpPr>
          <p:cNvPr id="152" name="Google Shape;152;p15"/>
          <p:cNvSpPr txBox="1"/>
          <p:nvPr>
            <p:ph idx="1" type="body"/>
          </p:nvPr>
        </p:nvSpPr>
        <p:spPr>
          <a:xfrm>
            <a:off x="765510" y="1463224"/>
            <a:ext cx="11177108" cy="4023360"/>
          </a:xfrm>
          <a:prstGeom prst="rect">
            <a:avLst/>
          </a:prstGeom>
          <a:noFill/>
          <a:ln>
            <a:noFill/>
          </a:ln>
        </p:spPr>
        <p:txBody>
          <a:bodyPr anchorCtr="0" anchor="ctr" bIns="45700" lIns="91425" spcFirstLastPara="1" rIns="91425" wrap="square" tIns="45700">
            <a:normAutofit/>
          </a:bodyPr>
          <a:lstStyle/>
          <a:p>
            <a:pPr indent="-306000" lvl="0" marL="306000" rtl="0" algn="l">
              <a:lnSpc>
                <a:spcPct val="90000"/>
              </a:lnSpc>
              <a:spcBef>
                <a:spcPts val="0"/>
              </a:spcBef>
              <a:spcAft>
                <a:spcPts val="0"/>
              </a:spcAft>
              <a:buSzPts val="1656"/>
              <a:buChar char="◼"/>
            </a:pPr>
            <a:r>
              <a:rPr lang="en-US">
                <a:solidFill>
                  <a:schemeClr val="dk1"/>
                </a:solidFill>
                <a:latin typeface="Times New Roman"/>
                <a:ea typeface="Times New Roman"/>
                <a:cs typeface="Times New Roman"/>
                <a:sym typeface="Times New Roman"/>
              </a:rPr>
              <a:t>Based on scientific principles that emphasizes empiricism, or knowledge based on observation</a:t>
            </a:r>
            <a:endParaRPr/>
          </a:p>
          <a:p>
            <a:pPr indent="-306000" lvl="0" marL="306000" rtl="0" algn="l">
              <a:lnSpc>
                <a:spcPct val="90000"/>
              </a:lnSpc>
              <a:spcBef>
                <a:spcPts val="960"/>
              </a:spcBef>
              <a:spcAft>
                <a:spcPts val="0"/>
              </a:spcAft>
              <a:buSzPts val="1656"/>
              <a:buChar char="◼"/>
            </a:pPr>
            <a:r>
              <a:rPr lang="en-US">
                <a:solidFill>
                  <a:schemeClr val="dk1"/>
                </a:solidFill>
                <a:latin typeface="Times New Roman"/>
                <a:ea typeface="Times New Roman"/>
                <a:cs typeface="Times New Roman"/>
                <a:sym typeface="Times New Roman"/>
              </a:rPr>
              <a:t> Systematic collection and examination of data (empirical evidence) to support or disprove hypotheses (predictions) rather than depending on common sense. </a:t>
            </a:r>
            <a:endParaRPr/>
          </a:p>
          <a:p>
            <a:pPr indent="-200844" lvl="0" marL="306000" rtl="0" algn="l">
              <a:lnSpc>
                <a:spcPct val="90000"/>
              </a:lnSpc>
              <a:spcBef>
                <a:spcPts val="960"/>
              </a:spcBef>
              <a:spcAft>
                <a:spcPts val="0"/>
              </a:spcAft>
              <a:buSzPts val="1656"/>
              <a:buNone/>
            </a:pPr>
            <a:r>
              <a:t/>
            </a:r>
            <a:endParaRPr/>
          </a:p>
          <a:p>
            <a:pPr indent="0" lvl="0" marL="0" rtl="0" algn="ctr">
              <a:lnSpc>
                <a:spcPct val="90000"/>
              </a:lnSpc>
              <a:spcBef>
                <a:spcPts val="1160"/>
              </a:spcBef>
              <a:spcAft>
                <a:spcPts val="0"/>
              </a:spcAft>
              <a:buSzPts val="2576"/>
              <a:buNone/>
            </a:pPr>
            <a:r>
              <a:rPr lang="en-US" sz="2800">
                <a:solidFill>
                  <a:schemeClr val="dk1"/>
                </a:solidFill>
                <a:latin typeface="Times New Roman"/>
                <a:ea typeface="Times New Roman"/>
                <a:cs typeface="Times New Roman"/>
                <a:sym typeface="Times New Roman"/>
              </a:rPr>
              <a:t>“Psychology is the </a:t>
            </a:r>
            <a:r>
              <a:rPr lang="en-US" sz="2800">
                <a:solidFill>
                  <a:srgbClr val="FF0000"/>
                </a:solidFill>
                <a:latin typeface="Times New Roman"/>
                <a:ea typeface="Times New Roman"/>
                <a:cs typeface="Times New Roman"/>
                <a:sym typeface="Times New Roman"/>
              </a:rPr>
              <a:t>scientific </a:t>
            </a:r>
            <a:r>
              <a:rPr lang="en-US" sz="2800">
                <a:solidFill>
                  <a:schemeClr val="dk1"/>
                </a:solidFill>
                <a:latin typeface="Times New Roman"/>
                <a:ea typeface="Times New Roman"/>
                <a:cs typeface="Times New Roman"/>
                <a:sym typeface="Times New Roman"/>
              </a:rPr>
              <a:t>study of </a:t>
            </a:r>
            <a:r>
              <a:rPr lang="en-US" sz="2800">
                <a:solidFill>
                  <a:srgbClr val="FF0000"/>
                </a:solidFill>
                <a:latin typeface="Times New Roman"/>
                <a:ea typeface="Times New Roman"/>
                <a:cs typeface="Times New Roman"/>
                <a:sym typeface="Times New Roman"/>
              </a:rPr>
              <a:t>behavior </a:t>
            </a:r>
            <a:r>
              <a:rPr lang="en-US" sz="2800">
                <a:solidFill>
                  <a:schemeClr val="dk1"/>
                </a:solidFill>
                <a:latin typeface="Times New Roman"/>
                <a:ea typeface="Times New Roman"/>
                <a:cs typeface="Times New Roman"/>
                <a:sym typeface="Times New Roman"/>
              </a:rPr>
              <a:t>and</a:t>
            </a:r>
            <a:r>
              <a:rPr lang="en-US" sz="2800">
                <a:latin typeface="Times New Roman"/>
                <a:ea typeface="Times New Roman"/>
                <a:cs typeface="Times New Roman"/>
                <a:sym typeface="Times New Roman"/>
              </a:rPr>
              <a:t> </a:t>
            </a:r>
            <a:r>
              <a:rPr lang="en-US" sz="2800">
                <a:solidFill>
                  <a:srgbClr val="FF0000"/>
                </a:solidFill>
                <a:latin typeface="Times New Roman"/>
                <a:ea typeface="Times New Roman"/>
                <a:cs typeface="Times New Roman"/>
                <a:sym typeface="Times New Roman"/>
              </a:rPr>
              <a:t>mental processes.</a:t>
            </a:r>
            <a:r>
              <a:rPr lang="en-US" sz="2800">
                <a:solidFill>
                  <a:schemeClr val="dk1"/>
                </a:solidFill>
                <a:latin typeface="Times New Roman"/>
                <a:ea typeface="Times New Roman"/>
                <a:cs typeface="Times New Roman"/>
                <a:sym typeface="Times New Roman"/>
              </a:rPr>
              <a:t>”</a:t>
            </a:r>
            <a:endParaRPr/>
          </a:p>
          <a:p>
            <a:pPr indent="-200844" lvl="0" marL="306000" rtl="0" algn="l">
              <a:lnSpc>
                <a:spcPct val="90000"/>
              </a:lnSpc>
              <a:spcBef>
                <a:spcPts val="960"/>
              </a:spcBef>
              <a:spcAft>
                <a:spcPts val="0"/>
              </a:spcAft>
              <a:buSzPts val="1656"/>
              <a:buNone/>
            </a:pPr>
            <a:r>
              <a:t/>
            </a:r>
            <a:endParaRPr/>
          </a:p>
          <a:p>
            <a:pPr indent="-200844" lvl="0" marL="306000" rtl="0" algn="l">
              <a:lnSpc>
                <a:spcPct val="90000"/>
              </a:lnSpc>
              <a:spcBef>
                <a:spcPts val="960"/>
              </a:spcBef>
              <a:spcAft>
                <a:spcPts val="0"/>
              </a:spcAft>
              <a:buSzPts val="1656"/>
              <a:buNone/>
            </a:pPr>
            <a:r>
              <a:t/>
            </a:r>
            <a:endParaRPr/>
          </a:p>
        </p:txBody>
      </p:sp>
      <p:pic>
        <p:nvPicPr>
          <p:cNvPr id="153" name="Google Shape;153;p15"/>
          <p:cNvPicPr preferRelativeResize="0"/>
          <p:nvPr/>
        </p:nvPicPr>
        <p:blipFill rotWithShape="1">
          <a:blip r:embed="rId3">
            <a:alphaModFix/>
          </a:blip>
          <a:srcRect b="0" l="0" r="0" t="0"/>
          <a:stretch/>
        </p:blipFill>
        <p:spPr>
          <a:xfrm>
            <a:off x="2865120" y="4224159"/>
            <a:ext cx="6278880" cy="263384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750751" y="18099"/>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lang="en-US"/>
              <a:t>SCOPE OF PSYCHOLOGY</a:t>
            </a:r>
            <a:endParaRPr/>
          </a:p>
        </p:txBody>
      </p:sp>
      <p:pic>
        <p:nvPicPr>
          <p:cNvPr id="160" name="Google Shape;160;p16"/>
          <p:cNvPicPr preferRelativeResize="0"/>
          <p:nvPr/>
        </p:nvPicPr>
        <p:blipFill rotWithShape="1">
          <a:blip r:embed="rId3">
            <a:alphaModFix/>
          </a:blip>
          <a:srcRect b="0" l="0" r="0" t="0"/>
          <a:stretch/>
        </p:blipFill>
        <p:spPr>
          <a:xfrm>
            <a:off x="7415235" y="538480"/>
            <a:ext cx="4096867" cy="5586470"/>
          </a:xfrm>
          <a:prstGeom prst="rect">
            <a:avLst/>
          </a:prstGeom>
          <a:noFill/>
          <a:ln>
            <a:noFill/>
          </a:ln>
        </p:spPr>
      </p:pic>
      <p:sp>
        <p:nvSpPr>
          <p:cNvPr id="161" name="Google Shape;161;p16"/>
          <p:cNvSpPr txBox="1"/>
          <p:nvPr/>
        </p:nvSpPr>
        <p:spPr>
          <a:xfrm>
            <a:off x="581192" y="1517714"/>
            <a:ext cx="6451204" cy="5340285"/>
          </a:xfrm>
          <a:prstGeom prst="rect">
            <a:avLst/>
          </a:prstGeom>
          <a:noFill/>
          <a:ln>
            <a:noFill/>
          </a:ln>
        </p:spPr>
        <p:txBody>
          <a:bodyPr anchorCtr="0" anchor="ctr" bIns="45700" lIns="91425" spcFirstLastPara="1" rIns="91425" wrap="square" tIns="45700">
            <a:normAutofit/>
          </a:bodyPr>
          <a:lstStyle/>
          <a:p>
            <a:pPr indent="-306000" lvl="0" marL="306000" marR="0" rtl="0" algn="just">
              <a:lnSpc>
                <a:spcPct val="100000"/>
              </a:lnSpc>
              <a:spcBef>
                <a:spcPts val="0"/>
              </a:spcBef>
              <a:spcAft>
                <a:spcPts val="0"/>
              </a:spcAft>
              <a:buClr>
                <a:schemeClr val="accent2"/>
              </a:buClr>
              <a:buSzPts val="1656"/>
              <a:buFont typeface="Noto Sans Symbols"/>
              <a:buChar char="◼"/>
            </a:pPr>
            <a:r>
              <a:rPr b="0" i="0" lang="en-US" sz="2000" u="none" cap="none" strike="noStrike">
                <a:solidFill>
                  <a:schemeClr val="dk1"/>
                </a:solidFill>
                <a:latin typeface="Gill Sans"/>
                <a:ea typeface="Gill Sans"/>
                <a:cs typeface="Gill Sans"/>
                <a:sym typeface="Gill Sans"/>
              </a:rPr>
              <a:t>Psychology today covers enormous range of scope or fields</a:t>
            </a:r>
            <a:r>
              <a:rPr b="0" i="0" lang="en-US" sz="2000" u="none" cap="none" strike="noStrike">
                <a:solidFill>
                  <a:schemeClr val="dk2"/>
                </a:solidFill>
                <a:latin typeface="Gill Sans"/>
                <a:ea typeface="Gill Sans"/>
                <a:cs typeface="Gill Sans"/>
                <a:sym typeface="Gill Sans"/>
              </a:rPr>
              <a:t>.</a:t>
            </a:r>
            <a:endParaRPr b="0" i="0" sz="2000" u="none" cap="none" strike="noStrike">
              <a:solidFill>
                <a:schemeClr val="dk2"/>
              </a:solidFill>
              <a:latin typeface="Gill Sans"/>
              <a:ea typeface="Gill Sans"/>
              <a:cs typeface="Gill Sans"/>
              <a:sym typeface="Gill Sans"/>
            </a:endParaRPr>
          </a:p>
          <a:p>
            <a:pPr indent="-306000" lvl="0" marL="306000" marR="0" rtl="0" algn="just">
              <a:lnSpc>
                <a:spcPct val="100000"/>
              </a:lnSpc>
              <a:spcBef>
                <a:spcPts val="960"/>
              </a:spcBef>
              <a:spcAft>
                <a:spcPts val="0"/>
              </a:spcAft>
              <a:buClr>
                <a:schemeClr val="accent2"/>
              </a:buClr>
              <a:buSzPts val="1656"/>
              <a:buFont typeface="Noto Sans Symbols"/>
              <a:buChar char="◼"/>
            </a:pPr>
            <a:r>
              <a:rPr b="0" i="0" lang="en-US" sz="2000" u="none" cap="none" strike="noStrike">
                <a:solidFill>
                  <a:srgbClr val="C00000"/>
                </a:solidFill>
                <a:latin typeface="Gill Sans"/>
                <a:ea typeface="Gill Sans"/>
                <a:cs typeface="Gill Sans"/>
                <a:sym typeface="Gill Sans"/>
              </a:rPr>
              <a:t>Basic Research: </a:t>
            </a:r>
            <a:r>
              <a:rPr b="0" i="0" lang="en-US" sz="2000" u="none" cap="none" strike="noStrike">
                <a:solidFill>
                  <a:schemeClr val="dk1"/>
                </a:solidFill>
                <a:latin typeface="Gill Sans"/>
                <a:ea typeface="Gill Sans"/>
                <a:cs typeface="Gill Sans"/>
                <a:sym typeface="Gill Sans"/>
              </a:rPr>
              <a:t>Purely theoretical, with the intent of increasing our understanding of certain phenomena.</a:t>
            </a:r>
            <a:endParaRPr/>
          </a:p>
          <a:p>
            <a:pPr indent="0" lvl="0" marL="0" marR="0" rtl="0" algn="just">
              <a:lnSpc>
                <a:spcPct val="100000"/>
              </a:lnSpc>
              <a:spcBef>
                <a:spcPts val="960"/>
              </a:spcBef>
              <a:spcAft>
                <a:spcPts val="0"/>
              </a:spcAft>
              <a:buNone/>
            </a:pPr>
            <a:r>
              <a:rPr b="0" i="0" lang="en-US" sz="2000" u="none" cap="none" strike="noStrike">
                <a:solidFill>
                  <a:srgbClr val="000000"/>
                </a:solidFill>
                <a:latin typeface="Gill Sans"/>
                <a:ea typeface="Gill Sans"/>
                <a:cs typeface="Gill Sans"/>
                <a:sym typeface="Gill Sans"/>
              </a:rPr>
              <a:t>Theoretical and exploratory; seeks to answer "why" or "how" something works.</a:t>
            </a:r>
            <a:endParaRPr b="0" i="0" sz="2000" u="none" cap="none" strike="noStrike">
              <a:solidFill>
                <a:schemeClr val="dk1"/>
              </a:solidFill>
              <a:latin typeface="Gill Sans"/>
              <a:ea typeface="Gill Sans"/>
              <a:cs typeface="Gill Sans"/>
              <a:sym typeface="Gill Sans"/>
            </a:endParaRPr>
          </a:p>
          <a:p>
            <a:pPr indent="-306000" lvl="0" marL="306000" marR="0" rtl="0" algn="just">
              <a:lnSpc>
                <a:spcPct val="100000"/>
              </a:lnSpc>
              <a:spcBef>
                <a:spcPts val="960"/>
              </a:spcBef>
              <a:spcAft>
                <a:spcPts val="0"/>
              </a:spcAft>
              <a:buClr>
                <a:schemeClr val="accent2"/>
              </a:buClr>
              <a:buSzPts val="1656"/>
              <a:buFont typeface="Noto Sans Symbols"/>
              <a:buChar char="◼"/>
            </a:pPr>
            <a:r>
              <a:rPr b="0" i="0" lang="en-US" sz="2000" u="none" cap="none" strike="noStrike">
                <a:solidFill>
                  <a:srgbClr val="C00000"/>
                </a:solidFill>
                <a:latin typeface="Gill Sans"/>
                <a:ea typeface="Gill Sans"/>
                <a:cs typeface="Gill Sans"/>
                <a:sym typeface="Gill Sans"/>
              </a:rPr>
              <a:t>Applied Research: </a:t>
            </a:r>
            <a:r>
              <a:rPr b="0" i="0" lang="en-US" sz="2000" u="none" cap="none" strike="noStrike">
                <a:solidFill>
                  <a:schemeClr val="dk1"/>
                </a:solidFill>
                <a:latin typeface="Gill Sans"/>
                <a:ea typeface="Gill Sans"/>
                <a:cs typeface="Gill Sans"/>
                <a:sym typeface="Gill Sans"/>
              </a:rPr>
              <a:t>methods and findings of scientific psychology to solve practical problems of human and animal behavior and experience.</a:t>
            </a:r>
            <a:endParaRPr/>
          </a:p>
          <a:p>
            <a:pPr indent="0" lvl="0" marL="0" marR="0" rtl="0" algn="just">
              <a:lnSpc>
                <a:spcPct val="100000"/>
              </a:lnSpc>
              <a:spcBef>
                <a:spcPts val="960"/>
              </a:spcBef>
              <a:spcAft>
                <a:spcPts val="0"/>
              </a:spcAft>
              <a:buNone/>
            </a:pPr>
            <a:r>
              <a:rPr b="0" i="0" lang="en-US" sz="2000" u="none" cap="none" strike="noStrike">
                <a:solidFill>
                  <a:srgbClr val="000000"/>
                </a:solidFill>
                <a:latin typeface="Gill Sans"/>
                <a:ea typeface="Gill Sans"/>
                <a:cs typeface="Gill Sans"/>
                <a:sym typeface="Gill Sans"/>
              </a:rPr>
              <a:t>Solution-oriented; seeks to answer "how to" solve real-world issues.</a:t>
            </a:r>
            <a:endParaRPr b="0" i="0" sz="2000" u="none" cap="none" strike="noStrike">
              <a:solidFill>
                <a:schemeClr val="dk1"/>
              </a:solidFill>
              <a:latin typeface="Gill Sans"/>
              <a:ea typeface="Gill Sans"/>
              <a:cs typeface="Gill Sans"/>
              <a:sym typeface="Gill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7"/>
          <p:cNvSpPr txBox="1"/>
          <p:nvPr>
            <p:ph idx="1" type="body"/>
          </p:nvPr>
        </p:nvSpPr>
        <p:spPr>
          <a:xfrm>
            <a:off x="1107440" y="802640"/>
            <a:ext cx="10698480" cy="5506720"/>
          </a:xfrm>
          <a:prstGeom prst="rect">
            <a:avLst/>
          </a:prstGeom>
          <a:noFill/>
          <a:ln>
            <a:noFill/>
          </a:ln>
        </p:spPr>
        <p:txBody>
          <a:bodyPr anchorCtr="0" anchor="t" bIns="45700" lIns="45700" spcFirstLastPara="1" rIns="45700" wrap="square" tIns="45700">
            <a:normAutofit/>
          </a:bodyPr>
          <a:lstStyle/>
          <a:p>
            <a:pPr indent="0" lvl="0" marL="0" rtl="0" algn="just">
              <a:lnSpc>
                <a:spcPct val="90000"/>
              </a:lnSpc>
              <a:spcBef>
                <a:spcPts val="0"/>
              </a:spcBef>
              <a:spcAft>
                <a:spcPts val="0"/>
              </a:spcAft>
              <a:buSzPts val="3000"/>
              <a:buNone/>
            </a:pPr>
            <a:r>
              <a:rPr lang="en-US" sz="3000">
                <a:solidFill>
                  <a:srgbClr val="FF0000"/>
                </a:solidFill>
                <a:latin typeface="Gill Sans"/>
                <a:ea typeface="Gill Sans"/>
                <a:cs typeface="Gill Sans"/>
                <a:sym typeface="Gill Sans"/>
              </a:rPr>
              <a:t>Basic Research:</a:t>
            </a:r>
            <a:endParaRPr/>
          </a:p>
          <a:p>
            <a:pPr indent="0" lvl="0" marL="0" rtl="0" algn="just">
              <a:lnSpc>
                <a:spcPct val="90000"/>
              </a:lnSpc>
              <a:spcBef>
                <a:spcPts val="0"/>
              </a:spcBef>
              <a:spcAft>
                <a:spcPts val="0"/>
              </a:spcAft>
              <a:buSzPts val="3000"/>
              <a:buNone/>
            </a:pPr>
            <a:r>
              <a:rPr lang="en-US" sz="3000">
                <a:latin typeface="Gill Sans"/>
                <a:ea typeface="Gill Sans"/>
                <a:cs typeface="Gill Sans"/>
                <a:sym typeface="Gill Sans"/>
              </a:rPr>
              <a:t>1. Examining the cognitive processes involved in decision-making to develop theories about human thought and behavior.</a:t>
            </a:r>
            <a:endParaRPr/>
          </a:p>
          <a:p>
            <a:pPr indent="0" lvl="0" marL="0" rtl="0" algn="just">
              <a:lnSpc>
                <a:spcPct val="90000"/>
              </a:lnSpc>
              <a:spcBef>
                <a:spcPts val="0"/>
              </a:spcBef>
              <a:spcAft>
                <a:spcPts val="0"/>
              </a:spcAft>
              <a:buSzPts val="3000"/>
              <a:buNone/>
            </a:pPr>
            <a:r>
              <a:rPr lang="en-US" sz="3000">
                <a:latin typeface="Gill Sans"/>
                <a:ea typeface="Gill Sans"/>
                <a:cs typeface="Gill Sans"/>
                <a:sym typeface="Gill Sans"/>
              </a:rPr>
              <a:t>2. Analyzing the formation and evolution of galaxies to understand the universe's structure and history.</a:t>
            </a:r>
            <a:endParaRPr/>
          </a:p>
          <a:p>
            <a:pPr indent="0" lvl="0" marL="0" rtl="0" algn="just">
              <a:lnSpc>
                <a:spcPct val="90000"/>
              </a:lnSpc>
              <a:spcBef>
                <a:spcPts val="0"/>
              </a:spcBef>
              <a:spcAft>
                <a:spcPts val="0"/>
              </a:spcAft>
              <a:buSzPts val="3000"/>
              <a:buNone/>
            </a:pPr>
            <a:r>
              <a:t/>
            </a:r>
            <a:endParaRPr sz="3000">
              <a:solidFill>
                <a:schemeClr val="dk1"/>
              </a:solidFill>
              <a:latin typeface="Gill Sans"/>
              <a:ea typeface="Gill Sans"/>
              <a:cs typeface="Gill Sans"/>
              <a:sym typeface="Gill Sans"/>
            </a:endParaRPr>
          </a:p>
          <a:p>
            <a:pPr indent="0" lvl="0" marL="0" rtl="0" algn="just">
              <a:lnSpc>
                <a:spcPct val="90000"/>
              </a:lnSpc>
              <a:spcBef>
                <a:spcPts val="0"/>
              </a:spcBef>
              <a:spcAft>
                <a:spcPts val="0"/>
              </a:spcAft>
              <a:buSzPts val="3000"/>
              <a:buNone/>
            </a:pPr>
            <a:r>
              <a:t/>
            </a:r>
            <a:endParaRPr sz="3000">
              <a:solidFill>
                <a:schemeClr val="dk1"/>
              </a:solidFill>
              <a:latin typeface="Gill Sans"/>
              <a:ea typeface="Gill Sans"/>
              <a:cs typeface="Gill Sans"/>
              <a:sym typeface="Gill Sans"/>
            </a:endParaRPr>
          </a:p>
          <a:p>
            <a:pPr indent="0" lvl="0" marL="0" rtl="0" algn="just">
              <a:lnSpc>
                <a:spcPct val="90000"/>
              </a:lnSpc>
              <a:spcBef>
                <a:spcPts val="0"/>
              </a:spcBef>
              <a:spcAft>
                <a:spcPts val="0"/>
              </a:spcAft>
              <a:buSzPts val="3000"/>
              <a:buNone/>
            </a:pPr>
            <a:r>
              <a:rPr lang="en-US" sz="3000">
                <a:solidFill>
                  <a:srgbClr val="FF0000"/>
                </a:solidFill>
                <a:latin typeface="Gill Sans"/>
                <a:ea typeface="Gill Sans"/>
                <a:cs typeface="Gill Sans"/>
                <a:sym typeface="Gill Sans"/>
              </a:rPr>
              <a:t>Applied research:</a:t>
            </a:r>
            <a:endParaRPr/>
          </a:p>
          <a:p>
            <a:pPr indent="0" lvl="0" marL="0" rtl="0" algn="just">
              <a:lnSpc>
                <a:spcPct val="90000"/>
              </a:lnSpc>
              <a:spcBef>
                <a:spcPts val="0"/>
              </a:spcBef>
              <a:spcAft>
                <a:spcPts val="0"/>
              </a:spcAft>
              <a:buSzPts val="3000"/>
              <a:buNone/>
            </a:pPr>
            <a:r>
              <a:rPr lang="en-US" sz="3000">
                <a:latin typeface="Gill Sans"/>
                <a:ea typeface="Gill Sans"/>
                <a:cs typeface="Gill Sans"/>
                <a:sym typeface="Gill Sans"/>
              </a:rPr>
              <a:t>1. Implementing new teaching methods derived from cognitive psychology research to improve student learning outcomes.</a:t>
            </a:r>
            <a:endParaRPr/>
          </a:p>
          <a:p>
            <a:pPr indent="0" lvl="0" marL="0" rtl="0" algn="just">
              <a:lnSpc>
                <a:spcPct val="90000"/>
              </a:lnSpc>
              <a:spcBef>
                <a:spcPts val="0"/>
              </a:spcBef>
              <a:spcAft>
                <a:spcPts val="0"/>
              </a:spcAft>
              <a:buSzPts val="3000"/>
              <a:buNone/>
            </a:pPr>
            <a:r>
              <a:rPr lang="en-US" sz="3000">
                <a:solidFill>
                  <a:schemeClr val="dk1"/>
                </a:solidFill>
                <a:latin typeface="Gill Sans"/>
                <a:ea typeface="Gill Sans"/>
                <a:cs typeface="Gill Sans"/>
                <a:sym typeface="Gill Sans"/>
              </a:rPr>
              <a:t>2. Many psychological studies on addiction reveal that the main cause of addiction is the stress factor. </a:t>
            </a:r>
            <a:endParaRPr/>
          </a:p>
          <a:p>
            <a:pPr indent="0" lvl="0" marL="0" rtl="0" algn="l">
              <a:lnSpc>
                <a:spcPct val="90000"/>
              </a:lnSpc>
              <a:spcBef>
                <a:spcPts val="0"/>
              </a:spcBef>
              <a:spcAft>
                <a:spcPts val="0"/>
              </a:spcAft>
              <a:buSzPts val="2000"/>
              <a:buNone/>
            </a:pPr>
            <a:r>
              <a:t/>
            </a:r>
            <a:endParaRPr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8"/>
          <p:cNvSpPr txBox="1"/>
          <p:nvPr>
            <p:ph type="title"/>
          </p:nvPr>
        </p:nvSpPr>
        <p:spPr>
          <a:xfrm>
            <a:off x="719328" y="-603504"/>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lang="en-US"/>
              <a:t>THINK????</a:t>
            </a:r>
            <a:endParaRPr/>
          </a:p>
        </p:txBody>
      </p:sp>
      <p:pic>
        <p:nvPicPr>
          <p:cNvPr id="172" name="Google Shape;172;p18"/>
          <p:cNvPicPr preferRelativeResize="0"/>
          <p:nvPr/>
        </p:nvPicPr>
        <p:blipFill rotWithShape="1">
          <a:blip r:embed="rId3">
            <a:alphaModFix/>
          </a:blip>
          <a:srcRect b="0" l="0" r="0" t="0"/>
          <a:stretch/>
        </p:blipFill>
        <p:spPr>
          <a:xfrm>
            <a:off x="0" y="896112"/>
            <a:ext cx="12192000" cy="6065520"/>
          </a:xfrm>
          <a:prstGeom prst="rect">
            <a:avLst/>
          </a:prstGeom>
          <a:noFill/>
          <a:ln>
            <a:noFill/>
          </a:ln>
        </p:spPr>
      </p:pic>
      <p:sp>
        <p:nvSpPr>
          <p:cNvPr id="173" name="Google Shape;173;p18"/>
          <p:cNvSpPr txBox="1"/>
          <p:nvPr>
            <p:ph idx="1" type="body"/>
          </p:nvPr>
        </p:nvSpPr>
        <p:spPr>
          <a:xfrm>
            <a:off x="973328" y="2292096"/>
            <a:ext cx="10639552" cy="4775200"/>
          </a:xfrm>
          <a:prstGeom prst="rect">
            <a:avLst/>
          </a:prstGeom>
          <a:noFill/>
          <a:ln>
            <a:noFill/>
          </a:ln>
        </p:spPr>
        <p:txBody>
          <a:bodyPr anchorCtr="0" anchor="ctr" bIns="45700" lIns="91425" spcFirstLastPara="1" rIns="91425" wrap="square" tIns="45700">
            <a:normAutofit/>
          </a:bodyPr>
          <a:lstStyle/>
          <a:p>
            <a:pPr indent="-306000" lvl="0" marL="306000" rtl="0" algn="l">
              <a:lnSpc>
                <a:spcPct val="90000"/>
              </a:lnSpc>
              <a:spcBef>
                <a:spcPts val="0"/>
              </a:spcBef>
              <a:spcAft>
                <a:spcPts val="0"/>
              </a:spcAft>
              <a:buSzPts val="1656"/>
              <a:buChar char="◼"/>
            </a:pPr>
            <a:r>
              <a:rPr lang="en-US" sz="5400">
                <a:solidFill>
                  <a:schemeClr val="lt1"/>
                </a:solidFill>
              </a:rPr>
              <a:t>How is psychology important in your field? </a:t>
            </a:r>
            <a:endParaRPr/>
          </a:p>
          <a:p>
            <a:pPr indent="0" lvl="0" marL="0" rtl="0" algn="ctr">
              <a:lnSpc>
                <a:spcPct val="90000"/>
              </a:lnSpc>
              <a:spcBef>
                <a:spcPts val="0"/>
              </a:spcBef>
              <a:spcAft>
                <a:spcPts val="0"/>
              </a:spcAft>
              <a:buSzPts val="1656"/>
              <a:buNone/>
            </a:pPr>
            <a:r>
              <a:rPr lang="en-US" sz="5400">
                <a:solidFill>
                  <a:schemeClr val="lt1"/>
                </a:solidFill>
              </a:rPr>
              <a:t>OR</a:t>
            </a:r>
            <a:endParaRPr sz="5400">
              <a:solidFill>
                <a:schemeClr val="lt1"/>
              </a:solidFill>
            </a:endParaRPr>
          </a:p>
          <a:p>
            <a:pPr indent="-306000" lvl="0" marL="306000" rtl="0" algn="l">
              <a:lnSpc>
                <a:spcPct val="90000"/>
              </a:lnSpc>
              <a:spcBef>
                <a:spcPts val="960"/>
              </a:spcBef>
              <a:spcAft>
                <a:spcPts val="0"/>
              </a:spcAft>
              <a:buSzPts val="1656"/>
              <a:buChar char="◼"/>
            </a:pPr>
            <a:r>
              <a:rPr lang="en-US" sz="5400">
                <a:solidFill>
                  <a:schemeClr val="lt1"/>
                </a:solidFill>
              </a:rPr>
              <a:t>What makes psychology important in your field?</a:t>
            </a:r>
            <a:endParaRPr sz="54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9"/>
          <p:cNvSpPr txBox="1"/>
          <p:nvPr>
            <p:ph type="title"/>
          </p:nvPr>
        </p:nvSpPr>
        <p:spPr>
          <a:xfrm>
            <a:off x="749808" y="87376"/>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lang="en-US"/>
              <a:t>GOALS OF PSYCHOLOGY </a:t>
            </a:r>
            <a:endParaRPr/>
          </a:p>
        </p:txBody>
      </p:sp>
      <p:sp>
        <p:nvSpPr>
          <p:cNvPr id="180" name="Google Shape;180;p19"/>
          <p:cNvSpPr/>
          <p:nvPr/>
        </p:nvSpPr>
        <p:spPr>
          <a:xfrm>
            <a:off x="581192" y="3192249"/>
            <a:ext cx="1717288" cy="3171355"/>
          </a:xfrm>
          <a:prstGeom prst="rect">
            <a:avLst/>
          </a:prstGeom>
          <a:solidFill>
            <a:schemeClr val="accent1"/>
          </a:solidFill>
          <a:ln cap="rnd" cmpd="sng" w="22225">
            <a:solidFill>
              <a:srgbClr val="380E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Gill Sans"/>
                <a:ea typeface="Gill Sans"/>
                <a:cs typeface="Gill Sans"/>
                <a:sym typeface="Gill Sans"/>
              </a:rPr>
              <a:t>TO DESCRIBE</a:t>
            </a:r>
            <a:endParaRPr b="0" i="0" sz="1800" u="none" cap="none" strike="noStrike">
              <a:solidFill>
                <a:schemeClr val="lt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Gill Sans"/>
                <a:ea typeface="Gill Sans"/>
                <a:cs typeface="Gill Sans"/>
                <a:sym typeface="Gill Sans"/>
              </a:rPr>
              <a:t>(</a:t>
            </a:r>
            <a:r>
              <a:rPr b="1" i="0" lang="en-US" sz="1800" u="none" cap="none" strike="noStrike">
                <a:solidFill>
                  <a:srgbClr val="FF0000"/>
                </a:solidFill>
                <a:latin typeface="Gill Sans"/>
                <a:ea typeface="Gill Sans"/>
                <a:cs typeface="Gill Sans"/>
                <a:sym typeface="Gill Sans"/>
              </a:rPr>
              <a:t>What</a:t>
            </a:r>
            <a:r>
              <a:rPr b="1" i="0" lang="en-US" sz="1800" u="none" cap="none" strike="noStrike">
                <a:solidFill>
                  <a:schemeClr val="lt1"/>
                </a:solidFill>
                <a:latin typeface="Gill Sans"/>
                <a:ea typeface="Gill Sans"/>
                <a:cs typeface="Gill Sans"/>
                <a:sym typeface="Gill Sans"/>
              </a:rPr>
              <a:t> is Happening?)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Gill Sans"/>
                <a:ea typeface="Gill Sans"/>
                <a:cs typeface="Gill Sans"/>
                <a:sym typeface="Gill San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Gill Sans"/>
                <a:ea typeface="Gill Sans"/>
                <a:cs typeface="Gill Sans"/>
                <a:sym typeface="Gill Sans"/>
              </a:rPr>
              <a:t>- Observing a behavior and taking note of everything that is happening. </a:t>
            </a:r>
            <a:endParaRPr b="0" i="0" sz="1400" u="none" cap="none" strike="noStrike">
              <a:solidFill>
                <a:srgbClr val="000000"/>
              </a:solidFill>
              <a:latin typeface="Arial"/>
              <a:ea typeface="Arial"/>
              <a:cs typeface="Arial"/>
              <a:sym typeface="Arial"/>
            </a:endParaRPr>
          </a:p>
        </p:txBody>
      </p:sp>
      <p:sp>
        <p:nvSpPr>
          <p:cNvPr id="181" name="Google Shape;181;p19"/>
          <p:cNvSpPr/>
          <p:nvPr/>
        </p:nvSpPr>
        <p:spPr>
          <a:xfrm>
            <a:off x="3671696" y="3192250"/>
            <a:ext cx="1717288" cy="3171355"/>
          </a:xfrm>
          <a:prstGeom prst="rect">
            <a:avLst/>
          </a:prstGeom>
          <a:solidFill>
            <a:schemeClr val="accent1"/>
          </a:solidFill>
          <a:ln cap="rnd" cmpd="sng" w="22225">
            <a:solidFill>
              <a:srgbClr val="380E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Gill Sans"/>
                <a:ea typeface="Gill Sans"/>
                <a:cs typeface="Gill Sans"/>
                <a:sym typeface="Gill Sans"/>
              </a:rPr>
              <a:t>TO EXPLAIN (</a:t>
            </a:r>
            <a:r>
              <a:rPr b="1" i="0" lang="en-US" sz="1800" u="none" cap="none" strike="noStrike">
                <a:solidFill>
                  <a:srgbClr val="FF0000"/>
                </a:solidFill>
                <a:latin typeface="Gill Sans"/>
                <a:ea typeface="Gill Sans"/>
                <a:cs typeface="Gill Sans"/>
                <a:sym typeface="Gill Sans"/>
              </a:rPr>
              <a:t>Why</a:t>
            </a:r>
            <a:r>
              <a:rPr b="1" i="0" lang="en-US" sz="1800" u="none" cap="none" strike="noStrike">
                <a:solidFill>
                  <a:schemeClr val="lt1"/>
                </a:solidFill>
                <a:latin typeface="Gill Sans"/>
                <a:ea typeface="Gill Sans"/>
                <a:cs typeface="Gill Sans"/>
                <a:sym typeface="Gill Sans"/>
              </a:rPr>
              <a:t> is it happening?)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Gill Sans"/>
                <a:ea typeface="Gill Sans"/>
                <a:cs typeface="Gill Sans"/>
                <a:sym typeface="Gill Sans"/>
              </a:rPr>
              <a:t> </a:t>
            </a:r>
            <a:r>
              <a:rPr b="0" i="0" lang="en-US" sz="1800" u="none" cap="none" strike="noStrike">
                <a:solidFill>
                  <a:schemeClr val="lt1"/>
                </a:solidFill>
                <a:latin typeface="Gill Sans"/>
                <a:ea typeface="Gill Sans"/>
                <a:cs typeface="Gill Sans"/>
                <a:sym typeface="Gill Sans"/>
              </a:rPr>
              <a:t>-Behavior is being understood by explaining it.</a:t>
            </a:r>
            <a:endParaRPr b="0" i="0" sz="1800" u="none" cap="none" strike="noStrike">
              <a:solidFill>
                <a:schemeClr val="lt1"/>
              </a:solidFill>
              <a:latin typeface="Gill Sans"/>
              <a:ea typeface="Gill Sans"/>
              <a:cs typeface="Gill Sans"/>
              <a:sym typeface="Gill Sans"/>
            </a:endParaRPr>
          </a:p>
        </p:txBody>
      </p:sp>
      <p:sp>
        <p:nvSpPr>
          <p:cNvPr id="182" name="Google Shape;182;p19"/>
          <p:cNvSpPr/>
          <p:nvPr/>
        </p:nvSpPr>
        <p:spPr>
          <a:xfrm>
            <a:off x="6765670" y="3192252"/>
            <a:ext cx="1717288" cy="3171355"/>
          </a:xfrm>
          <a:prstGeom prst="rect">
            <a:avLst/>
          </a:prstGeom>
          <a:solidFill>
            <a:schemeClr val="accent1"/>
          </a:solidFill>
          <a:ln cap="rnd" cmpd="sng" w="22225">
            <a:solidFill>
              <a:srgbClr val="380E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Gill Sans"/>
                <a:ea typeface="Gill Sans"/>
                <a:cs typeface="Gill Sans"/>
                <a:sym typeface="Gill Sans"/>
              </a:rPr>
              <a:t>TO PREDICT (</a:t>
            </a:r>
            <a:r>
              <a:rPr b="1" i="0" lang="en-US" sz="1800" u="none" cap="none" strike="noStrike">
                <a:solidFill>
                  <a:srgbClr val="FF0000"/>
                </a:solidFill>
                <a:latin typeface="Gill Sans"/>
                <a:ea typeface="Gill Sans"/>
                <a:cs typeface="Gill Sans"/>
                <a:sym typeface="Gill Sans"/>
              </a:rPr>
              <a:t>Will</a:t>
            </a:r>
            <a:r>
              <a:rPr b="1" i="0" lang="en-US" sz="1800" u="none" cap="none" strike="noStrike">
                <a:solidFill>
                  <a:schemeClr val="lt1"/>
                </a:solidFill>
                <a:latin typeface="Gill Sans"/>
                <a:ea typeface="Gill Sans"/>
                <a:cs typeface="Gill Sans"/>
                <a:sym typeface="Gill Sans"/>
              </a:rPr>
              <a:t> it happen again?) </a:t>
            </a:r>
            <a:endParaRPr b="1" i="0" sz="1800" u="none" cap="none" strike="noStrike">
              <a:solidFill>
                <a:schemeClr val="lt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Gill Sans"/>
                <a:ea typeface="Gill Sans"/>
                <a:cs typeface="Gill Sans"/>
                <a:sym typeface="Gill Sans"/>
              </a:rPr>
              <a:t>-Determining what will happen in the future </a:t>
            </a:r>
            <a:endParaRPr b="0" i="0" sz="1400" u="none" cap="none" strike="noStrike">
              <a:solidFill>
                <a:srgbClr val="000000"/>
              </a:solidFill>
              <a:latin typeface="Arial"/>
              <a:ea typeface="Arial"/>
              <a:cs typeface="Arial"/>
              <a:sym typeface="Arial"/>
            </a:endParaRPr>
          </a:p>
        </p:txBody>
      </p:sp>
      <p:sp>
        <p:nvSpPr>
          <p:cNvPr id="183" name="Google Shape;183;p19"/>
          <p:cNvSpPr/>
          <p:nvPr/>
        </p:nvSpPr>
        <p:spPr>
          <a:xfrm>
            <a:off x="9893520" y="3192252"/>
            <a:ext cx="1717288" cy="3171355"/>
          </a:xfrm>
          <a:prstGeom prst="rect">
            <a:avLst/>
          </a:prstGeom>
          <a:solidFill>
            <a:schemeClr val="accent1"/>
          </a:solidFill>
          <a:ln cap="rnd" cmpd="sng" w="22225">
            <a:solidFill>
              <a:srgbClr val="380E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Gill Sans"/>
                <a:ea typeface="Gill Sans"/>
                <a:cs typeface="Gill Sans"/>
                <a:sym typeface="Gill Sans"/>
              </a:rPr>
              <a:t>TO CONTROL (</a:t>
            </a:r>
            <a:r>
              <a:rPr b="1" i="0" lang="en-US" sz="1800" u="none" cap="none" strike="noStrike">
                <a:solidFill>
                  <a:srgbClr val="FF0000"/>
                </a:solidFill>
                <a:latin typeface="Gill Sans"/>
                <a:ea typeface="Gill Sans"/>
                <a:cs typeface="Gill Sans"/>
                <a:sym typeface="Gill Sans"/>
              </a:rPr>
              <a:t>How</a:t>
            </a:r>
            <a:r>
              <a:rPr b="1" i="0" lang="en-US" sz="1800" u="none" cap="none" strike="noStrike">
                <a:solidFill>
                  <a:schemeClr val="lt1"/>
                </a:solidFill>
                <a:latin typeface="Gill Sans"/>
                <a:ea typeface="Gill Sans"/>
                <a:cs typeface="Gill Sans"/>
                <a:sym typeface="Gill Sans"/>
              </a:rPr>
              <a:t> can it be changed?) </a:t>
            </a:r>
            <a:endParaRPr b="1" i="0" sz="1800" u="none" cap="none" strike="noStrike">
              <a:solidFill>
                <a:schemeClr val="lt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Gill Sans"/>
                <a:ea typeface="Gill Sans"/>
                <a:cs typeface="Gill Sans"/>
                <a:sym typeface="Gill Sans"/>
              </a:rPr>
              <a:t>-To change a behavior from an undesirable one to a desirable one. </a:t>
            </a:r>
            <a:endParaRPr b="0" i="0" sz="1400" u="none" cap="none" strike="noStrike">
              <a:solidFill>
                <a:srgbClr val="000000"/>
              </a:solidFill>
              <a:latin typeface="Arial"/>
              <a:ea typeface="Arial"/>
              <a:cs typeface="Arial"/>
              <a:sym typeface="Arial"/>
            </a:endParaRPr>
          </a:p>
        </p:txBody>
      </p:sp>
      <p:pic>
        <p:nvPicPr>
          <p:cNvPr id="184" name="Google Shape;184;p19"/>
          <p:cNvPicPr preferRelativeResize="0"/>
          <p:nvPr/>
        </p:nvPicPr>
        <p:blipFill rotWithShape="1">
          <a:blip r:embed="rId3">
            <a:alphaModFix/>
          </a:blip>
          <a:srcRect b="0" l="0" r="0" t="0"/>
          <a:stretch/>
        </p:blipFill>
        <p:spPr>
          <a:xfrm>
            <a:off x="3538592" y="1973766"/>
            <a:ext cx="1849833" cy="1235091"/>
          </a:xfrm>
          <a:prstGeom prst="ellipse">
            <a:avLst/>
          </a:prstGeom>
          <a:noFill/>
          <a:ln>
            <a:noFill/>
          </a:ln>
        </p:spPr>
      </p:pic>
      <p:pic>
        <p:nvPicPr>
          <p:cNvPr id="185" name="Google Shape;185;p19"/>
          <p:cNvPicPr preferRelativeResize="0"/>
          <p:nvPr/>
        </p:nvPicPr>
        <p:blipFill rotWithShape="1">
          <a:blip r:embed="rId4">
            <a:alphaModFix/>
          </a:blip>
          <a:srcRect b="0" l="0" r="0" t="0"/>
          <a:stretch/>
        </p:blipFill>
        <p:spPr>
          <a:xfrm>
            <a:off x="512670" y="1878863"/>
            <a:ext cx="1854331" cy="1329996"/>
          </a:xfrm>
          <a:prstGeom prst="ellipse">
            <a:avLst/>
          </a:prstGeom>
          <a:noFill/>
          <a:ln>
            <a:noFill/>
          </a:ln>
        </p:spPr>
      </p:pic>
      <p:pic>
        <p:nvPicPr>
          <p:cNvPr id="186" name="Google Shape;186;p19"/>
          <p:cNvPicPr preferRelativeResize="0"/>
          <p:nvPr/>
        </p:nvPicPr>
        <p:blipFill rotWithShape="1">
          <a:blip r:embed="rId5">
            <a:alphaModFix/>
          </a:blip>
          <a:srcRect b="0" l="0" r="0" t="0"/>
          <a:stretch/>
        </p:blipFill>
        <p:spPr>
          <a:xfrm>
            <a:off x="6765670" y="1878862"/>
            <a:ext cx="1935637" cy="1313389"/>
          </a:xfrm>
          <a:prstGeom prst="ellipse">
            <a:avLst/>
          </a:prstGeom>
          <a:noFill/>
          <a:ln>
            <a:noFill/>
          </a:ln>
        </p:spPr>
      </p:pic>
      <p:pic>
        <p:nvPicPr>
          <p:cNvPr id="187" name="Google Shape;187;p19"/>
          <p:cNvPicPr preferRelativeResize="0"/>
          <p:nvPr/>
        </p:nvPicPr>
        <p:blipFill rotWithShape="1">
          <a:blip r:embed="rId6">
            <a:alphaModFix/>
          </a:blip>
          <a:srcRect b="0" l="0" r="0" t="0"/>
          <a:stretch/>
        </p:blipFill>
        <p:spPr>
          <a:xfrm>
            <a:off x="9893520" y="1872616"/>
            <a:ext cx="1717288" cy="1325880"/>
          </a:xfrm>
          <a:prstGeom prst="ellipse">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0"/>
          <p:cNvSpPr txBox="1"/>
          <p:nvPr>
            <p:ph type="title"/>
          </p:nvPr>
        </p:nvSpPr>
        <p:spPr>
          <a:xfrm>
            <a:off x="770128" y="0"/>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lang="en-US"/>
              <a:t>CONT.…</a:t>
            </a:r>
            <a:endParaRPr/>
          </a:p>
        </p:txBody>
      </p:sp>
      <p:sp>
        <p:nvSpPr>
          <p:cNvPr id="193" name="Google Shape;193;p20"/>
          <p:cNvSpPr txBox="1"/>
          <p:nvPr>
            <p:ph idx="1" type="body"/>
          </p:nvPr>
        </p:nvSpPr>
        <p:spPr>
          <a:xfrm>
            <a:off x="581192" y="1499616"/>
            <a:ext cx="11029615" cy="4901184"/>
          </a:xfrm>
          <a:prstGeom prst="rect">
            <a:avLst/>
          </a:prstGeom>
          <a:solidFill>
            <a:srgbClr val="D7BEB5"/>
          </a:solidFill>
          <a:ln>
            <a:noFill/>
          </a:ln>
        </p:spPr>
        <p:txBody>
          <a:bodyPr anchorCtr="0" anchor="ctr" bIns="45700" lIns="91425" spcFirstLastPara="1" rIns="91425" wrap="square" tIns="45700">
            <a:normAutofit/>
          </a:bodyPr>
          <a:lstStyle/>
          <a:p>
            <a:pPr indent="-306000" lvl="0" marL="306000" rtl="0" algn="just">
              <a:lnSpc>
                <a:spcPct val="90000"/>
              </a:lnSpc>
              <a:spcBef>
                <a:spcPts val="0"/>
              </a:spcBef>
              <a:spcAft>
                <a:spcPts val="0"/>
              </a:spcAft>
              <a:buSzPts val="2208"/>
              <a:buChar char="◼"/>
            </a:pPr>
            <a:r>
              <a:rPr lang="en-US" sz="2400">
                <a:solidFill>
                  <a:srgbClr val="FF0000"/>
                </a:solidFill>
              </a:rPr>
              <a:t>To describe what is an organism doing</a:t>
            </a:r>
            <a:r>
              <a:rPr lang="en-US" sz="2400">
                <a:solidFill>
                  <a:schemeClr val="dk1"/>
                </a:solidFill>
              </a:rPr>
              <a:t>?</a:t>
            </a:r>
            <a:endParaRPr/>
          </a:p>
          <a:p>
            <a:pPr indent="0" lvl="0" marL="0" rtl="0" algn="just">
              <a:lnSpc>
                <a:spcPct val="90000"/>
              </a:lnSpc>
              <a:spcBef>
                <a:spcPts val="0"/>
              </a:spcBef>
              <a:spcAft>
                <a:spcPts val="0"/>
              </a:spcAft>
              <a:buSzPts val="2208"/>
              <a:buNone/>
            </a:pPr>
            <a:r>
              <a:rPr lang="en-US" sz="2400"/>
              <a:t>Documenting the symptoms and behaviors associated with anxiety disorders.</a:t>
            </a:r>
            <a:endParaRPr sz="2400">
              <a:solidFill>
                <a:schemeClr val="dk1"/>
              </a:solidFill>
            </a:endParaRPr>
          </a:p>
          <a:p>
            <a:pPr indent="-306000" lvl="0" marL="306000" rtl="0" algn="just">
              <a:lnSpc>
                <a:spcPct val="90000"/>
              </a:lnSpc>
              <a:spcBef>
                <a:spcPts val="1080"/>
              </a:spcBef>
              <a:spcAft>
                <a:spcPts val="0"/>
              </a:spcAft>
              <a:buSzPts val="2208"/>
              <a:buChar char="◼"/>
            </a:pPr>
            <a:r>
              <a:rPr lang="en-US" sz="2400">
                <a:solidFill>
                  <a:srgbClr val="FF0000"/>
                </a:solidFill>
              </a:rPr>
              <a:t>To explain and understand why organism behave in certain ways?</a:t>
            </a:r>
            <a:endParaRPr/>
          </a:p>
          <a:p>
            <a:pPr indent="0" lvl="0" marL="0" rtl="0" algn="just">
              <a:lnSpc>
                <a:spcPct val="90000"/>
              </a:lnSpc>
              <a:spcBef>
                <a:spcPts val="1080"/>
              </a:spcBef>
              <a:spcAft>
                <a:spcPts val="0"/>
              </a:spcAft>
              <a:buSzPts val="2208"/>
              <a:buNone/>
            </a:pPr>
            <a:r>
              <a:rPr lang="en-US" sz="2400"/>
              <a:t>Investigating how genetic, environmental, and cognitive factors contribute to the development of depression.</a:t>
            </a:r>
            <a:endParaRPr sz="2400">
              <a:solidFill>
                <a:schemeClr val="dk1"/>
              </a:solidFill>
            </a:endParaRPr>
          </a:p>
          <a:p>
            <a:pPr indent="-306000" lvl="0" marL="306000" rtl="0" algn="just">
              <a:lnSpc>
                <a:spcPct val="90000"/>
              </a:lnSpc>
              <a:spcBef>
                <a:spcPts val="1080"/>
              </a:spcBef>
              <a:spcAft>
                <a:spcPts val="0"/>
              </a:spcAft>
              <a:buSzPts val="2208"/>
              <a:buChar char="◼"/>
            </a:pPr>
            <a:r>
              <a:rPr lang="en-US" sz="2400">
                <a:solidFill>
                  <a:srgbClr val="FF0000"/>
                </a:solidFill>
              </a:rPr>
              <a:t>To predict how organism will behave in the future?</a:t>
            </a:r>
            <a:endParaRPr/>
          </a:p>
          <a:p>
            <a:pPr indent="0" lvl="0" marL="0" rtl="0" algn="just">
              <a:lnSpc>
                <a:spcPct val="90000"/>
              </a:lnSpc>
              <a:spcBef>
                <a:spcPts val="1080"/>
              </a:spcBef>
              <a:spcAft>
                <a:spcPts val="0"/>
              </a:spcAft>
              <a:buSzPts val="2208"/>
              <a:buNone/>
            </a:pPr>
            <a:r>
              <a:rPr lang="en-US" sz="2400"/>
              <a:t>Predicting how a person with high stress levels might react to future stressors based on past behaviors and coping mechanisms.</a:t>
            </a:r>
            <a:endParaRPr sz="2400">
              <a:solidFill>
                <a:schemeClr val="dk1"/>
              </a:solidFill>
            </a:endParaRPr>
          </a:p>
          <a:p>
            <a:pPr indent="-306000" lvl="0" marL="306000" rtl="0" algn="just">
              <a:lnSpc>
                <a:spcPct val="90000"/>
              </a:lnSpc>
              <a:spcBef>
                <a:spcPts val="1080"/>
              </a:spcBef>
              <a:spcAft>
                <a:spcPts val="0"/>
              </a:spcAft>
              <a:buSzPts val="2208"/>
              <a:buChar char="◼"/>
            </a:pPr>
            <a:r>
              <a:rPr lang="en-US" sz="2400">
                <a:solidFill>
                  <a:srgbClr val="FF0000"/>
                </a:solidFill>
              </a:rPr>
              <a:t>To control behavior or to modify the particular behavior?</a:t>
            </a:r>
            <a:endParaRPr/>
          </a:p>
          <a:p>
            <a:pPr indent="0" lvl="0" marL="0" rtl="0" algn="just">
              <a:lnSpc>
                <a:spcPct val="90000"/>
              </a:lnSpc>
              <a:spcBef>
                <a:spcPts val="1080"/>
              </a:spcBef>
              <a:spcAft>
                <a:spcPts val="0"/>
              </a:spcAft>
              <a:buSzPts val="2208"/>
              <a:buNone/>
            </a:pPr>
            <a:r>
              <a:rPr lang="en-US" sz="2400"/>
              <a:t>Designing and applying therapeutic techniques to help individuals manage anxiety or developing educational programs to enhance learning and memory.</a:t>
            </a:r>
            <a:endParaRPr sz="24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txBox="1"/>
          <p:nvPr>
            <p:ph type="title"/>
          </p:nvPr>
        </p:nvSpPr>
        <p:spPr>
          <a:xfrm>
            <a:off x="1024128" y="138176"/>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lang="en-US"/>
              <a:t>KEY DEBATES IN PSYCHOLOGY</a:t>
            </a:r>
            <a:endParaRPr/>
          </a:p>
        </p:txBody>
      </p:sp>
      <p:sp>
        <p:nvSpPr>
          <p:cNvPr id="199" name="Google Shape;199;p21"/>
          <p:cNvSpPr txBox="1"/>
          <p:nvPr>
            <p:ph idx="1" type="body"/>
          </p:nvPr>
        </p:nvSpPr>
        <p:spPr>
          <a:xfrm>
            <a:off x="1024128" y="2286000"/>
            <a:ext cx="10290417" cy="4023360"/>
          </a:xfrm>
          <a:prstGeom prst="rect">
            <a:avLst/>
          </a:prstGeom>
          <a:noFill/>
          <a:ln>
            <a:noFill/>
          </a:ln>
        </p:spPr>
        <p:txBody>
          <a:bodyPr anchorCtr="0" anchor="ctr" bIns="45700" lIns="91425" spcFirstLastPara="1" rIns="91425" wrap="square" tIns="45700">
            <a:noAutofit/>
          </a:bodyPr>
          <a:lstStyle/>
          <a:p>
            <a:pPr indent="-457200" lvl="0" marL="457200" rtl="0" algn="just">
              <a:lnSpc>
                <a:spcPct val="90000"/>
              </a:lnSpc>
              <a:spcBef>
                <a:spcPts val="0"/>
              </a:spcBef>
              <a:spcAft>
                <a:spcPts val="0"/>
              </a:spcAft>
              <a:buSzPts val="2208"/>
              <a:buFont typeface="Gill Sans"/>
              <a:buAutoNum type="arabicPeriod"/>
            </a:pPr>
            <a:r>
              <a:rPr lang="en-US" sz="3200">
                <a:solidFill>
                  <a:schemeClr val="dk1"/>
                </a:solidFill>
                <a:latin typeface="Gill Sans"/>
                <a:ea typeface="Gill Sans"/>
                <a:cs typeface="Gill Sans"/>
                <a:sym typeface="Gill Sans"/>
              </a:rPr>
              <a:t>Nature vs. Nurture</a:t>
            </a:r>
            <a:endParaRPr sz="2800"/>
          </a:p>
          <a:p>
            <a:pPr indent="-457200" lvl="0" marL="457200" rtl="0" algn="just">
              <a:lnSpc>
                <a:spcPct val="90000"/>
              </a:lnSpc>
              <a:spcBef>
                <a:spcPts val="1080"/>
              </a:spcBef>
              <a:spcAft>
                <a:spcPts val="0"/>
              </a:spcAft>
              <a:buSzPts val="2208"/>
              <a:buFont typeface="Gill Sans"/>
              <a:buAutoNum type="arabicPeriod"/>
            </a:pPr>
            <a:r>
              <a:rPr lang="en-US" sz="3200">
                <a:solidFill>
                  <a:schemeClr val="dk1"/>
                </a:solidFill>
                <a:latin typeface="Gill Sans"/>
                <a:ea typeface="Gill Sans"/>
                <a:cs typeface="Gill Sans"/>
                <a:sym typeface="Gill Sans"/>
              </a:rPr>
              <a:t>Conscious vs. Unconscious Mind</a:t>
            </a:r>
            <a:endParaRPr sz="2800"/>
          </a:p>
          <a:p>
            <a:pPr indent="-457200" lvl="0" marL="457200" rtl="0" algn="just">
              <a:lnSpc>
                <a:spcPct val="90000"/>
              </a:lnSpc>
              <a:spcBef>
                <a:spcPts val="1080"/>
              </a:spcBef>
              <a:spcAft>
                <a:spcPts val="0"/>
              </a:spcAft>
              <a:buSzPts val="2208"/>
              <a:buFont typeface="Gill Sans"/>
              <a:buAutoNum type="arabicPeriod"/>
            </a:pPr>
            <a:r>
              <a:rPr lang="en-US" sz="3200">
                <a:solidFill>
                  <a:schemeClr val="dk1"/>
                </a:solidFill>
                <a:latin typeface="Gill Sans"/>
                <a:ea typeface="Gill Sans"/>
                <a:cs typeface="Gill Sans"/>
                <a:sym typeface="Gill Sans"/>
              </a:rPr>
              <a:t>Observable behavior vs. internal mental Processes</a:t>
            </a:r>
            <a:endParaRPr sz="2800"/>
          </a:p>
          <a:p>
            <a:pPr indent="-457200" lvl="0" marL="457200" rtl="0" algn="just">
              <a:lnSpc>
                <a:spcPct val="90000"/>
              </a:lnSpc>
              <a:spcBef>
                <a:spcPts val="1080"/>
              </a:spcBef>
              <a:spcAft>
                <a:spcPts val="0"/>
              </a:spcAft>
              <a:buSzPts val="2208"/>
              <a:buFont typeface="Gill Sans"/>
              <a:buAutoNum type="arabicPeriod"/>
            </a:pPr>
            <a:r>
              <a:rPr lang="en-US" sz="3200">
                <a:solidFill>
                  <a:schemeClr val="dk1"/>
                </a:solidFill>
                <a:latin typeface="Gill Sans"/>
                <a:ea typeface="Gill Sans"/>
                <a:cs typeface="Gill Sans"/>
                <a:sym typeface="Gill Sans"/>
              </a:rPr>
              <a:t>Free will vs. determinism</a:t>
            </a:r>
            <a:endParaRPr sz="2800"/>
          </a:p>
          <a:p>
            <a:pPr indent="-457200" lvl="0" marL="457200" rtl="0" algn="just">
              <a:lnSpc>
                <a:spcPct val="90000"/>
              </a:lnSpc>
              <a:spcBef>
                <a:spcPts val="1080"/>
              </a:spcBef>
              <a:spcAft>
                <a:spcPts val="0"/>
              </a:spcAft>
              <a:buSzPts val="2208"/>
              <a:buFont typeface="Gill Sans"/>
              <a:buAutoNum type="arabicPeriod"/>
            </a:pPr>
            <a:r>
              <a:rPr lang="en-US" sz="3200">
                <a:solidFill>
                  <a:schemeClr val="dk1"/>
                </a:solidFill>
                <a:latin typeface="Gill Sans"/>
                <a:ea typeface="Gill Sans"/>
                <a:cs typeface="Gill Sans"/>
                <a:sym typeface="Gill Sans"/>
              </a:rPr>
              <a:t>Individual Differences vs. universal Principles</a:t>
            </a:r>
            <a:endParaRPr/>
          </a:p>
          <a:p>
            <a:pPr indent="-316992" lvl="0" marL="457200" rtl="0" algn="just">
              <a:lnSpc>
                <a:spcPct val="90000"/>
              </a:lnSpc>
              <a:spcBef>
                <a:spcPts val="1080"/>
              </a:spcBef>
              <a:spcAft>
                <a:spcPts val="0"/>
              </a:spcAft>
              <a:buSzPts val="2208"/>
              <a:buFont typeface="Gill Sans"/>
              <a:buNone/>
            </a:pPr>
            <a:r>
              <a:t/>
            </a:r>
            <a:endParaRPr sz="3200">
              <a:solidFill>
                <a:schemeClr val="dk1"/>
              </a:solidFill>
              <a:latin typeface="Gill Sans"/>
              <a:ea typeface="Gill Sans"/>
              <a:cs typeface="Gill Sans"/>
              <a:sym typeface="Gill Sans"/>
            </a:endParaRPr>
          </a:p>
          <a:p>
            <a:pPr indent="-306000" lvl="0" marL="306000" rtl="0" algn="just">
              <a:lnSpc>
                <a:spcPct val="90000"/>
              </a:lnSpc>
              <a:spcBef>
                <a:spcPts val="1080"/>
              </a:spcBef>
              <a:spcAft>
                <a:spcPts val="0"/>
              </a:spcAft>
              <a:buSzPts val="2208"/>
              <a:buFont typeface="Noto Sans Symbols"/>
              <a:buChar char="❖"/>
            </a:pPr>
            <a:r>
              <a:rPr lang="en-US" sz="3200">
                <a:solidFill>
                  <a:schemeClr val="dk1"/>
                </a:solidFill>
                <a:latin typeface="Gill Sans"/>
                <a:ea typeface="Gill Sans"/>
                <a:cs typeface="Gill Sans"/>
                <a:sym typeface="Gill Sans"/>
              </a:rPr>
              <a:t>These key debates are used to understand how culture, ethnicity, and race influence behavior.</a:t>
            </a:r>
            <a:endParaRPr sz="3200">
              <a:solidFill>
                <a:schemeClr val="dk1"/>
              </a:solidFill>
              <a:latin typeface="Gill Sans"/>
              <a:ea typeface="Gill Sans"/>
              <a:cs typeface="Gill Sans"/>
              <a:sym typeface="Gill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2"/>
          <p:cNvSpPr txBox="1"/>
          <p:nvPr>
            <p:ph type="title"/>
          </p:nvPr>
        </p:nvSpPr>
        <p:spPr>
          <a:xfrm>
            <a:off x="840509" y="1274905"/>
            <a:ext cx="10553920" cy="461382"/>
          </a:xfrm>
          <a:prstGeom prst="rect">
            <a:avLst/>
          </a:prstGeom>
          <a:noFill/>
          <a:ln>
            <a:noFill/>
          </a:ln>
        </p:spPr>
        <p:txBody>
          <a:bodyPr anchorCtr="0" anchor="b" bIns="45700" lIns="91425" spcFirstLastPara="1" rIns="91425" wrap="square" tIns="45700">
            <a:noAutofit/>
          </a:bodyPr>
          <a:lstStyle/>
          <a:p>
            <a:pPr indent="0" lvl="0" marL="0" rtl="0" algn="l">
              <a:lnSpc>
                <a:spcPct val="80000"/>
              </a:lnSpc>
              <a:spcBef>
                <a:spcPts val="0"/>
              </a:spcBef>
              <a:spcAft>
                <a:spcPts val="0"/>
              </a:spcAft>
              <a:buClr>
                <a:schemeClr val="lt1"/>
              </a:buClr>
              <a:buSzPts val="4400"/>
              <a:buFont typeface="Gill Sans"/>
              <a:buNone/>
            </a:pPr>
            <a:br>
              <a:rPr b="1" lang="en-US" sz="4400"/>
            </a:br>
            <a:r>
              <a:rPr b="1" lang="en-US" sz="4400"/>
              <a:t>1. NATURE VS NURTURE</a:t>
            </a:r>
            <a:endParaRPr b="1" sz="4400"/>
          </a:p>
        </p:txBody>
      </p:sp>
      <p:sp>
        <p:nvSpPr>
          <p:cNvPr id="205" name="Google Shape;205;p22"/>
          <p:cNvSpPr txBox="1"/>
          <p:nvPr>
            <p:ph idx="1" type="body"/>
          </p:nvPr>
        </p:nvSpPr>
        <p:spPr>
          <a:xfrm>
            <a:off x="581192" y="2180496"/>
            <a:ext cx="6207535" cy="3678303"/>
          </a:xfrm>
          <a:prstGeom prst="rect">
            <a:avLst/>
          </a:prstGeom>
          <a:noFill/>
          <a:ln>
            <a:noFill/>
          </a:ln>
        </p:spPr>
        <p:txBody>
          <a:bodyPr anchorCtr="0" anchor="ctr" bIns="45700" lIns="91425" spcFirstLastPara="1" rIns="91425" wrap="square" tIns="45700">
            <a:noAutofit/>
          </a:bodyPr>
          <a:lstStyle/>
          <a:p>
            <a:pPr indent="-306000" lvl="0" marL="306000" rtl="0" algn="just">
              <a:lnSpc>
                <a:spcPct val="90000"/>
              </a:lnSpc>
              <a:spcBef>
                <a:spcPts val="0"/>
              </a:spcBef>
              <a:spcAft>
                <a:spcPts val="0"/>
              </a:spcAft>
              <a:buSzPts val="1840"/>
              <a:buChar char="◼"/>
            </a:pPr>
            <a:r>
              <a:rPr lang="en-US" sz="2800">
                <a:solidFill>
                  <a:schemeClr val="dk1"/>
                </a:solidFill>
              </a:rPr>
              <a:t>Heredity vs environment</a:t>
            </a:r>
            <a:endParaRPr sz="2800"/>
          </a:p>
          <a:p>
            <a:pPr indent="-306000" lvl="0" marL="306000" rtl="0" algn="just">
              <a:lnSpc>
                <a:spcPct val="90000"/>
              </a:lnSpc>
              <a:spcBef>
                <a:spcPts val="1000"/>
              </a:spcBef>
              <a:spcAft>
                <a:spcPts val="0"/>
              </a:spcAft>
              <a:buSzPts val="1840"/>
              <a:buFont typeface="Noto Sans Symbols"/>
              <a:buChar char="❖"/>
            </a:pPr>
            <a:r>
              <a:rPr lang="en-US" sz="2800">
                <a:solidFill>
                  <a:schemeClr val="dk1"/>
                </a:solidFill>
              </a:rPr>
              <a:t>How much people's behavior is due to their genetically determined nature </a:t>
            </a:r>
            <a:endParaRPr sz="2800">
              <a:solidFill>
                <a:schemeClr val="dk1"/>
              </a:solidFill>
            </a:endParaRPr>
          </a:p>
          <a:p>
            <a:pPr indent="0" lvl="0" marL="0" rtl="0" algn="just">
              <a:lnSpc>
                <a:spcPct val="90000"/>
              </a:lnSpc>
              <a:spcBef>
                <a:spcPts val="1000"/>
              </a:spcBef>
              <a:spcAft>
                <a:spcPts val="0"/>
              </a:spcAft>
              <a:buSzPts val="1840"/>
              <a:buNone/>
            </a:pPr>
            <a:r>
              <a:rPr lang="en-US" sz="2800">
                <a:solidFill>
                  <a:schemeClr val="dk1"/>
                </a:solidFill>
              </a:rPr>
              <a:t>                                      </a:t>
            </a:r>
            <a:r>
              <a:rPr b="1" lang="en-US" sz="2800">
                <a:solidFill>
                  <a:schemeClr val="dk1"/>
                </a:solidFill>
              </a:rPr>
              <a:t>VS</a:t>
            </a:r>
            <a:endParaRPr b="1" sz="2800">
              <a:solidFill>
                <a:schemeClr val="dk1"/>
              </a:solidFill>
            </a:endParaRPr>
          </a:p>
          <a:p>
            <a:pPr indent="-306000" lvl="0" marL="306000" rtl="0" algn="just">
              <a:lnSpc>
                <a:spcPct val="90000"/>
              </a:lnSpc>
              <a:spcBef>
                <a:spcPts val="1000"/>
              </a:spcBef>
              <a:spcAft>
                <a:spcPts val="0"/>
              </a:spcAft>
              <a:buSzPts val="1840"/>
              <a:buFont typeface="Noto Sans Symbols"/>
              <a:buChar char="❖"/>
            </a:pPr>
            <a:r>
              <a:rPr lang="en-US" sz="2800">
                <a:solidFill>
                  <a:schemeClr val="dk1"/>
                </a:solidFill>
              </a:rPr>
              <a:t>How much is due to the influences of the physical and social environment in which a child is raised</a:t>
            </a:r>
            <a:endParaRPr sz="2800"/>
          </a:p>
          <a:p>
            <a:pPr indent="-200844" lvl="0" marL="306000" rtl="0" algn="just">
              <a:lnSpc>
                <a:spcPct val="90000"/>
              </a:lnSpc>
              <a:spcBef>
                <a:spcPts val="960"/>
              </a:spcBef>
              <a:spcAft>
                <a:spcPts val="0"/>
              </a:spcAft>
              <a:buSzPts val="1656"/>
              <a:buNone/>
            </a:pPr>
            <a:r>
              <a:t/>
            </a:r>
            <a:endParaRPr sz="2800"/>
          </a:p>
          <a:p>
            <a:pPr indent="-200844" lvl="0" marL="306000" rtl="0" algn="just">
              <a:lnSpc>
                <a:spcPct val="90000"/>
              </a:lnSpc>
              <a:spcBef>
                <a:spcPts val="960"/>
              </a:spcBef>
              <a:spcAft>
                <a:spcPts val="0"/>
              </a:spcAft>
              <a:buSzPts val="1656"/>
              <a:buNone/>
            </a:pPr>
            <a:r>
              <a:rPr lang="en-US" sz="2800"/>
              <a:t>E.g.: Intelligence, Personality Traits, Mental Health Disorders, Language Acquisition, Aggression</a:t>
            </a:r>
            <a:endParaRPr sz="2800"/>
          </a:p>
        </p:txBody>
      </p:sp>
      <p:pic>
        <p:nvPicPr>
          <p:cNvPr id="206" name="Google Shape;206;p22"/>
          <p:cNvPicPr preferRelativeResize="0"/>
          <p:nvPr/>
        </p:nvPicPr>
        <p:blipFill rotWithShape="1">
          <a:blip r:embed="rId3">
            <a:alphaModFix/>
          </a:blip>
          <a:srcRect b="0" l="0" r="0" t="0"/>
          <a:stretch/>
        </p:blipFill>
        <p:spPr>
          <a:xfrm>
            <a:off x="7114772" y="1097280"/>
            <a:ext cx="4941454" cy="496824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3"/>
          <p:cNvSpPr txBox="1"/>
          <p:nvPr>
            <p:ph type="title"/>
          </p:nvPr>
        </p:nvSpPr>
        <p:spPr>
          <a:xfrm>
            <a:off x="1024128" y="585216"/>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b="1" lang="en-US"/>
              <a:t>2. CONSCIOUS VS. UNCONSCIOUS MIND</a:t>
            </a:r>
            <a:endParaRPr b="1"/>
          </a:p>
        </p:txBody>
      </p:sp>
      <p:sp>
        <p:nvSpPr>
          <p:cNvPr id="212" name="Google Shape;212;p23"/>
          <p:cNvSpPr txBox="1"/>
          <p:nvPr>
            <p:ph idx="1" type="body"/>
          </p:nvPr>
        </p:nvSpPr>
        <p:spPr>
          <a:xfrm>
            <a:off x="581192" y="2180496"/>
            <a:ext cx="5270968" cy="4403184"/>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SzPts val="1840"/>
              <a:buNone/>
            </a:pPr>
            <a:r>
              <a:rPr lang="en-US" sz="2400">
                <a:solidFill>
                  <a:schemeClr val="dk1"/>
                </a:solidFill>
                <a:latin typeface="Gill Sans"/>
                <a:ea typeface="Gill Sans"/>
                <a:cs typeface="Gill Sans"/>
                <a:sym typeface="Gill Sans"/>
              </a:rPr>
              <a:t>How much of our behavior is produced by forces of which we are fully aware</a:t>
            </a:r>
            <a:endParaRPr sz="2400"/>
          </a:p>
          <a:p>
            <a:pPr indent="0" lvl="0" marL="0" rtl="0" algn="ctr">
              <a:lnSpc>
                <a:spcPct val="90000"/>
              </a:lnSpc>
              <a:spcBef>
                <a:spcPts val="1000"/>
              </a:spcBef>
              <a:spcAft>
                <a:spcPts val="0"/>
              </a:spcAft>
              <a:buSzPts val="1840"/>
              <a:buNone/>
            </a:pPr>
            <a:r>
              <a:rPr b="1" lang="en-US" sz="2400">
                <a:solidFill>
                  <a:schemeClr val="dk1"/>
                </a:solidFill>
                <a:latin typeface="Gill Sans"/>
                <a:ea typeface="Gill Sans"/>
                <a:cs typeface="Gill Sans"/>
                <a:sym typeface="Gill Sans"/>
              </a:rPr>
              <a:t>and </a:t>
            </a:r>
            <a:endParaRPr sz="2400"/>
          </a:p>
          <a:p>
            <a:pPr indent="0" lvl="0" marL="0" rtl="0" algn="just">
              <a:lnSpc>
                <a:spcPct val="90000"/>
              </a:lnSpc>
              <a:spcBef>
                <a:spcPts val="1000"/>
              </a:spcBef>
              <a:spcAft>
                <a:spcPts val="0"/>
              </a:spcAft>
              <a:buSzPts val="1840"/>
              <a:buNone/>
            </a:pPr>
            <a:r>
              <a:rPr lang="en-US" sz="2400">
                <a:solidFill>
                  <a:schemeClr val="dk1"/>
                </a:solidFill>
                <a:latin typeface="Gill Sans"/>
                <a:ea typeface="Gill Sans"/>
                <a:cs typeface="Gill Sans"/>
                <a:sym typeface="Gill Sans"/>
              </a:rPr>
              <a:t>How much is due to unconscious activity </a:t>
            </a:r>
            <a:endParaRPr sz="2400">
              <a:solidFill>
                <a:schemeClr val="dk1"/>
              </a:solidFill>
              <a:latin typeface="Gill Sans"/>
              <a:ea typeface="Gill Sans"/>
              <a:cs typeface="Gill Sans"/>
              <a:sym typeface="Gill Sans"/>
            </a:endParaRPr>
          </a:p>
          <a:p>
            <a:pPr indent="0" lvl="0" marL="0" rtl="0" algn="just">
              <a:lnSpc>
                <a:spcPct val="90000"/>
              </a:lnSpc>
              <a:spcBef>
                <a:spcPts val="1000"/>
              </a:spcBef>
              <a:spcAft>
                <a:spcPts val="0"/>
              </a:spcAft>
              <a:buSzPts val="1840"/>
              <a:buNone/>
            </a:pPr>
            <a:r>
              <a:rPr lang="en-US" sz="2400">
                <a:solidFill>
                  <a:schemeClr val="dk1"/>
                </a:solidFill>
                <a:latin typeface="Gill Sans"/>
                <a:ea typeface="Gill Sans"/>
                <a:cs typeface="Gill Sans"/>
                <a:sym typeface="Gill Sans"/>
              </a:rPr>
              <a:t>– mental processes that are not accessible to the conscious mind</a:t>
            </a:r>
            <a:endParaRPr/>
          </a:p>
          <a:p>
            <a:pPr indent="0" lvl="0" marL="0" rtl="0" algn="just">
              <a:lnSpc>
                <a:spcPct val="90000"/>
              </a:lnSpc>
              <a:spcBef>
                <a:spcPts val="1000"/>
              </a:spcBef>
              <a:spcAft>
                <a:spcPts val="0"/>
              </a:spcAft>
              <a:buSzPts val="1840"/>
              <a:buNone/>
            </a:pPr>
            <a:r>
              <a:t/>
            </a:r>
            <a:endParaRPr sz="2400">
              <a:solidFill>
                <a:schemeClr val="dk1"/>
              </a:solidFill>
              <a:latin typeface="Gill Sans"/>
              <a:ea typeface="Gill Sans"/>
              <a:cs typeface="Gill Sans"/>
              <a:sym typeface="Gill Sans"/>
            </a:endParaRPr>
          </a:p>
          <a:p>
            <a:pPr indent="0" lvl="0" marL="0" rtl="0" algn="just">
              <a:lnSpc>
                <a:spcPct val="90000"/>
              </a:lnSpc>
              <a:spcBef>
                <a:spcPts val="1000"/>
              </a:spcBef>
              <a:spcAft>
                <a:spcPts val="0"/>
              </a:spcAft>
              <a:buSzPts val="1840"/>
              <a:buNone/>
            </a:pPr>
            <a:r>
              <a:rPr lang="en-US" sz="2400">
                <a:solidFill>
                  <a:schemeClr val="dk1"/>
                </a:solidFill>
                <a:latin typeface="Gill Sans"/>
                <a:ea typeface="Gill Sans"/>
                <a:cs typeface="Gill Sans"/>
                <a:sym typeface="Gill Sans"/>
              </a:rPr>
              <a:t>E.g.: </a:t>
            </a:r>
            <a:r>
              <a:rPr lang="en-US" sz="2400"/>
              <a:t>Decision-Making, Emotional Responses, Habit Formation, Freudian Slip</a:t>
            </a:r>
            <a:endParaRPr sz="2400"/>
          </a:p>
          <a:p>
            <a:pPr indent="-200844" lvl="0" marL="306000" rtl="0" algn="l">
              <a:lnSpc>
                <a:spcPct val="90000"/>
              </a:lnSpc>
              <a:spcBef>
                <a:spcPts val="960"/>
              </a:spcBef>
              <a:spcAft>
                <a:spcPts val="0"/>
              </a:spcAft>
              <a:buSzPts val="1656"/>
              <a:buNone/>
            </a:pPr>
            <a:r>
              <a:t/>
            </a:r>
            <a:endParaRPr/>
          </a:p>
        </p:txBody>
      </p:sp>
      <p:pic>
        <p:nvPicPr>
          <p:cNvPr id="213" name="Google Shape;213;p23"/>
          <p:cNvPicPr preferRelativeResize="0"/>
          <p:nvPr/>
        </p:nvPicPr>
        <p:blipFill rotWithShape="1">
          <a:blip r:embed="rId3">
            <a:alphaModFix/>
          </a:blip>
          <a:srcRect b="0" l="0" r="0" t="0"/>
          <a:stretch/>
        </p:blipFill>
        <p:spPr>
          <a:xfrm>
            <a:off x="6082193" y="2180496"/>
            <a:ext cx="5466827" cy="357375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4"/>
          <p:cNvSpPr txBox="1"/>
          <p:nvPr>
            <p:ph type="title"/>
          </p:nvPr>
        </p:nvSpPr>
        <p:spPr>
          <a:xfrm>
            <a:off x="1024128" y="585216"/>
            <a:ext cx="9720072" cy="1499616"/>
          </a:xfrm>
          <a:prstGeom prst="rect">
            <a:avLst/>
          </a:prstGeom>
          <a:noFill/>
          <a:ln>
            <a:noFill/>
          </a:ln>
        </p:spPr>
        <p:txBody>
          <a:bodyPr anchorCtr="0" anchor="b" bIns="45700" lIns="91425" spcFirstLastPara="1" rIns="91425" wrap="square" tIns="45700">
            <a:normAutofit fontScale="90000"/>
          </a:bodyPr>
          <a:lstStyle/>
          <a:p>
            <a:pPr indent="0" lvl="0" marL="0" rtl="0" algn="just">
              <a:lnSpc>
                <a:spcPct val="80000"/>
              </a:lnSpc>
              <a:spcBef>
                <a:spcPts val="0"/>
              </a:spcBef>
              <a:spcAft>
                <a:spcPts val="0"/>
              </a:spcAft>
              <a:buClr>
                <a:schemeClr val="lt1"/>
              </a:buClr>
              <a:buSzPct val="62222"/>
              <a:buFont typeface="Gill Sans"/>
              <a:buNone/>
            </a:pPr>
            <a:br>
              <a:rPr b="1" lang="en-US"/>
            </a:br>
            <a:r>
              <a:rPr b="1" lang="en-US"/>
              <a:t>3. OBSERVABLE BEHAVIOR VS. INTERNAL MENTAL PROCESSES</a:t>
            </a:r>
            <a:endParaRPr b="1"/>
          </a:p>
        </p:txBody>
      </p:sp>
      <p:sp>
        <p:nvSpPr>
          <p:cNvPr id="220" name="Google Shape;220;p24"/>
          <p:cNvSpPr txBox="1"/>
          <p:nvPr>
            <p:ph idx="1" type="body"/>
          </p:nvPr>
        </p:nvSpPr>
        <p:spPr>
          <a:xfrm>
            <a:off x="713709" y="1526863"/>
            <a:ext cx="5097597" cy="3633047"/>
          </a:xfrm>
          <a:prstGeom prst="rect">
            <a:avLst/>
          </a:prstGeom>
          <a:noFill/>
          <a:ln>
            <a:noFill/>
          </a:ln>
        </p:spPr>
        <p:txBody>
          <a:bodyPr anchorCtr="0" anchor="ctr" bIns="45700" lIns="91425" spcFirstLastPara="1" rIns="91425" wrap="square" tIns="45700">
            <a:normAutofit/>
          </a:bodyPr>
          <a:lstStyle/>
          <a:p>
            <a:pPr indent="-306000" lvl="0" marL="306000" rtl="0" algn="just">
              <a:lnSpc>
                <a:spcPct val="90000"/>
              </a:lnSpc>
              <a:spcBef>
                <a:spcPts val="0"/>
              </a:spcBef>
              <a:spcAft>
                <a:spcPts val="0"/>
              </a:spcAft>
              <a:buSzPts val="1840"/>
              <a:buChar char="◼"/>
            </a:pPr>
            <a:r>
              <a:rPr lang="en-US" sz="2000">
                <a:solidFill>
                  <a:srgbClr val="0C0C0C"/>
                </a:solidFill>
                <a:latin typeface="Gill Sans"/>
                <a:ea typeface="Gill Sans"/>
                <a:cs typeface="Gill Sans"/>
                <a:sym typeface="Gill Sans"/>
              </a:rPr>
              <a:t>Psychology should solely be concentrating on behavior that can be seen by outside observers</a:t>
            </a:r>
            <a:endParaRPr/>
          </a:p>
          <a:p>
            <a:pPr indent="-306000" lvl="0" marL="306000" rtl="0" algn="just">
              <a:lnSpc>
                <a:spcPct val="90000"/>
              </a:lnSpc>
              <a:spcBef>
                <a:spcPts val="1000"/>
              </a:spcBef>
              <a:spcAft>
                <a:spcPts val="0"/>
              </a:spcAft>
              <a:buSzPts val="1840"/>
              <a:buChar char="◼"/>
            </a:pPr>
            <a:r>
              <a:rPr lang="en-US" sz="2000">
                <a:solidFill>
                  <a:srgbClr val="0C0C0C"/>
                </a:solidFill>
                <a:latin typeface="Gill Sans"/>
                <a:ea typeface="Gill Sans"/>
                <a:cs typeface="Gill Sans"/>
                <a:sym typeface="Gill Sans"/>
              </a:rPr>
              <a:t>Behavioral psychologists think that the only source of information is behavior that can be observed directly</a:t>
            </a:r>
            <a:endParaRPr sz="2000">
              <a:solidFill>
                <a:srgbClr val="0C0C0C"/>
              </a:solidFill>
              <a:latin typeface="Gill Sans"/>
              <a:ea typeface="Gill Sans"/>
              <a:cs typeface="Gill Sans"/>
              <a:sym typeface="Gill Sans"/>
            </a:endParaRPr>
          </a:p>
        </p:txBody>
      </p:sp>
      <p:sp>
        <p:nvSpPr>
          <p:cNvPr id="221" name="Google Shape;221;p24"/>
          <p:cNvSpPr txBox="1"/>
          <p:nvPr>
            <p:ph idx="2" type="body"/>
          </p:nvPr>
        </p:nvSpPr>
        <p:spPr>
          <a:xfrm>
            <a:off x="6437941" y="1622427"/>
            <a:ext cx="5172868" cy="3633047"/>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SzPts val="1840"/>
              <a:buNone/>
            </a:pPr>
            <a:r>
              <a:rPr lang="en-US" sz="2000">
                <a:solidFill>
                  <a:srgbClr val="0C0C0C"/>
                </a:solidFill>
                <a:latin typeface="Gill Sans"/>
                <a:ea typeface="Gill Sans"/>
                <a:cs typeface="Gill Sans"/>
                <a:sym typeface="Gill Sans"/>
              </a:rPr>
              <a:t>Psychology should focus on unseen thinking processes because according to cognitive psychologist what goes on inside a person’s mind is critical to understanding behavior.</a:t>
            </a:r>
            <a:endParaRPr sz="2000">
              <a:solidFill>
                <a:srgbClr val="0C0C0C"/>
              </a:solidFill>
              <a:latin typeface="Gill Sans"/>
              <a:ea typeface="Gill Sans"/>
              <a:cs typeface="Gill Sans"/>
              <a:sym typeface="Gill Sans"/>
            </a:endParaRPr>
          </a:p>
          <a:p>
            <a:pPr indent="-200844" lvl="0" marL="306000" rtl="0" algn="l">
              <a:lnSpc>
                <a:spcPct val="90000"/>
              </a:lnSpc>
              <a:spcBef>
                <a:spcPts val="960"/>
              </a:spcBef>
              <a:spcAft>
                <a:spcPts val="0"/>
              </a:spcAft>
              <a:buSzPts val="1656"/>
              <a:buNone/>
            </a:pPr>
            <a:r>
              <a:t/>
            </a:r>
            <a:endParaRPr>
              <a:solidFill>
                <a:schemeClr val="dk1"/>
              </a:solidFill>
              <a:latin typeface="Gill Sans"/>
              <a:ea typeface="Gill Sans"/>
              <a:cs typeface="Gill Sans"/>
              <a:sym typeface="Gill Sans"/>
            </a:endParaRPr>
          </a:p>
          <a:p>
            <a:pPr indent="-200844" lvl="0" marL="306000" rtl="0" algn="l">
              <a:lnSpc>
                <a:spcPct val="90000"/>
              </a:lnSpc>
              <a:spcBef>
                <a:spcPts val="960"/>
              </a:spcBef>
              <a:spcAft>
                <a:spcPts val="0"/>
              </a:spcAft>
              <a:buSzPts val="1656"/>
              <a:buNone/>
            </a:pPr>
            <a:r>
              <a:t/>
            </a:r>
            <a:endParaRPr/>
          </a:p>
        </p:txBody>
      </p:sp>
      <p:pic>
        <p:nvPicPr>
          <p:cNvPr id="222" name="Google Shape;222;p24"/>
          <p:cNvPicPr preferRelativeResize="0"/>
          <p:nvPr/>
        </p:nvPicPr>
        <p:blipFill rotWithShape="1">
          <a:blip r:embed="rId3">
            <a:alphaModFix/>
          </a:blip>
          <a:srcRect b="0" l="0" r="0" t="0"/>
          <a:stretch/>
        </p:blipFill>
        <p:spPr>
          <a:xfrm>
            <a:off x="8104794" y="4982380"/>
            <a:ext cx="3015449" cy="1689100"/>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568"/>
              </a:srgbClr>
            </a:outerShdw>
          </a:effectLst>
        </p:spPr>
      </p:pic>
      <p:pic>
        <p:nvPicPr>
          <p:cNvPr id="223" name="Google Shape;223;p24"/>
          <p:cNvPicPr preferRelativeResize="0"/>
          <p:nvPr/>
        </p:nvPicPr>
        <p:blipFill rotWithShape="1">
          <a:blip r:embed="rId4">
            <a:alphaModFix/>
          </a:blip>
          <a:srcRect b="0" l="0" r="0" t="0"/>
          <a:stretch/>
        </p:blipFill>
        <p:spPr>
          <a:xfrm>
            <a:off x="1895524" y="4799077"/>
            <a:ext cx="2819400" cy="2055706"/>
          </a:xfrm>
          <a:prstGeom prst="rect">
            <a:avLst/>
          </a:prstGeom>
          <a:noFill/>
          <a:ln>
            <a:noFill/>
          </a:ln>
        </p:spPr>
      </p:pic>
      <p:sp>
        <p:nvSpPr>
          <p:cNvPr id="224" name="Google Shape;224;p24"/>
          <p:cNvSpPr/>
          <p:nvPr/>
        </p:nvSpPr>
        <p:spPr>
          <a:xfrm>
            <a:off x="5811306" y="3066742"/>
            <a:ext cx="569387" cy="40011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OR</a:t>
            </a:r>
            <a:endParaRPr b="0" i="0" sz="1400" u="none" cap="none" strike="noStrike">
              <a:solidFill>
                <a:srgbClr val="000000"/>
              </a:solidFill>
              <a:latin typeface="Arial"/>
              <a:ea typeface="Arial"/>
              <a:cs typeface="Arial"/>
              <a:sym typeface="Arial"/>
            </a:endParaRPr>
          </a:p>
        </p:txBody>
      </p:sp>
      <p:sp>
        <p:nvSpPr>
          <p:cNvPr id="225" name="Google Shape;225;p24"/>
          <p:cNvSpPr/>
          <p:nvPr/>
        </p:nvSpPr>
        <p:spPr>
          <a:xfrm>
            <a:off x="2326169" y="4448762"/>
            <a:ext cx="895469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Gill Sans"/>
                <a:ea typeface="Gill Sans"/>
                <a:cs typeface="Gill Sans"/>
                <a:sym typeface="Gill Sans"/>
              </a:rPr>
              <a:t>E.g.: Learning, Emotional Reactions, Decision-Making, Motivation, Stress Response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5"/>
          <p:cNvSpPr txBox="1"/>
          <p:nvPr>
            <p:ph type="title"/>
          </p:nvPr>
        </p:nvSpPr>
        <p:spPr>
          <a:xfrm>
            <a:off x="849047" y="728554"/>
            <a:ext cx="11029616" cy="1498345"/>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b="1" lang="en-US"/>
              <a:t>4. FREE WILL (CHOICES) VS. DETERMINISM</a:t>
            </a:r>
            <a:br>
              <a:rPr lang="en-US"/>
            </a:br>
            <a:endParaRPr/>
          </a:p>
        </p:txBody>
      </p:sp>
      <p:sp>
        <p:nvSpPr>
          <p:cNvPr id="232" name="Google Shape;232;p25"/>
          <p:cNvSpPr txBox="1"/>
          <p:nvPr>
            <p:ph idx="1" type="body"/>
          </p:nvPr>
        </p:nvSpPr>
        <p:spPr>
          <a:xfrm>
            <a:off x="581193" y="859809"/>
            <a:ext cx="4495774" cy="3790250"/>
          </a:xfrm>
          <a:prstGeom prst="rect">
            <a:avLst/>
          </a:prstGeom>
          <a:noFill/>
          <a:ln>
            <a:noFill/>
          </a:ln>
        </p:spPr>
        <p:txBody>
          <a:bodyPr anchorCtr="0" anchor="ctr" bIns="45700" lIns="91425" spcFirstLastPara="1" rIns="91425" wrap="square" tIns="45700">
            <a:normAutofit/>
          </a:bodyPr>
          <a:lstStyle/>
          <a:p>
            <a:pPr indent="-306000" lvl="0" marL="306000" rtl="0" algn="just">
              <a:lnSpc>
                <a:spcPct val="90000"/>
              </a:lnSpc>
              <a:spcBef>
                <a:spcPts val="0"/>
              </a:spcBef>
              <a:spcAft>
                <a:spcPts val="0"/>
              </a:spcAft>
              <a:buSzPts val="1840"/>
              <a:buChar char="◼"/>
            </a:pPr>
            <a:r>
              <a:rPr lang="en-US" sz="2000">
                <a:solidFill>
                  <a:schemeClr val="dk1"/>
                </a:solidFill>
              </a:rPr>
              <a:t>How much of our behavior is due to choices made freely by an individual?</a:t>
            </a:r>
            <a:endParaRPr/>
          </a:p>
          <a:p>
            <a:pPr indent="-306000" lvl="0" marL="306000" rtl="0" algn="just">
              <a:lnSpc>
                <a:spcPct val="90000"/>
              </a:lnSpc>
              <a:spcBef>
                <a:spcPts val="1000"/>
              </a:spcBef>
              <a:spcAft>
                <a:spcPts val="0"/>
              </a:spcAft>
              <a:buSzPts val="1840"/>
              <a:buChar char="◼"/>
            </a:pPr>
            <a:r>
              <a:rPr lang="en-US" sz="2000">
                <a:solidFill>
                  <a:schemeClr val="dk1"/>
                </a:solidFill>
              </a:rPr>
              <a:t>We are free to choose our actions</a:t>
            </a:r>
            <a:endParaRPr sz="2000">
              <a:solidFill>
                <a:schemeClr val="dk1"/>
              </a:solidFill>
            </a:endParaRPr>
          </a:p>
        </p:txBody>
      </p:sp>
      <p:sp>
        <p:nvSpPr>
          <p:cNvPr id="233" name="Google Shape;233;p25"/>
          <p:cNvSpPr txBox="1"/>
          <p:nvPr>
            <p:ph idx="2" type="body"/>
          </p:nvPr>
        </p:nvSpPr>
        <p:spPr>
          <a:xfrm>
            <a:off x="5832733" y="2228003"/>
            <a:ext cx="5778075" cy="2316701"/>
          </a:xfrm>
          <a:prstGeom prst="rect">
            <a:avLst/>
          </a:prstGeom>
          <a:noFill/>
          <a:ln>
            <a:noFill/>
          </a:ln>
        </p:spPr>
        <p:txBody>
          <a:bodyPr anchorCtr="0" anchor="ctr" bIns="45700" lIns="91425" spcFirstLastPara="1" rIns="91425" wrap="square" tIns="45700">
            <a:noAutofit/>
          </a:bodyPr>
          <a:lstStyle/>
          <a:p>
            <a:pPr indent="-306000" lvl="0" marL="306000" rtl="0" algn="l">
              <a:lnSpc>
                <a:spcPct val="90000"/>
              </a:lnSpc>
              <a:spcBef>
                <a:spcPts val="0"/>
              </a:spcBef>
              <a:spcAft>
                <a:spcPts val="0"/>
              </a:spcAft>
              <a:buSzPts val="1840"/>
              <a:buChar char="◼"/>
            </a:pPr>
            <a:r>
              <a:rPr lang="en-US" sz="2000">
                <a:solidFill>
                  <a:schemeClr val="dk1"/>
                </a:solidFill>
              </a:rPr>
              <a:t>How much is produced by factors beyond that individual’s voluntary control?</a:t>
            </a:r>
            <a:endParaRPr/>
          </a:p>
          <a:p>
            <a:pPr indent="-306000" lvl="0" marL="306000" rtl="0" algn="l">
              <a:lnSpc>
                <a:spcPct val="90000"/>
              </a:lnSpc>
              <a:spcBef>
                <a:spcPts val="1000"/>
              </a:spcBef>
              <a:spcAft>
                <a:spcPts val="0"/>
              </a:spcAft>
              <a:buSzPts val="1840"/>
              <a:buChar char="◼"/>
            </a:pPr>
            <a:r>
              <a:rPr lang="en-US" sz="2000">
                <a:solidFill>
                  <a:schemeClr val="dk1"/>
                </a:solidFill>
              </a:rPr>
              <a:t>The assumption that everything that happens has a cause or determinant in the observable world.</a:t>
            </a:r>
            <a:endParaRPr/>
          </a:p>
          <a:p>
            <a:pPr indent="-306000" lvl="0" marL="306000" rtl="0" algn="l">
              <a:lnSpc>
                <a:spcPct val="90000"/>
              </a:lnSpc>
              <a:spcBef>
                <a:spcPts val="1000"/>
              </a:spcBef>
              <a:spcAft>
                <a:spcPts val="0"/>
              </a:spcAft>
              <a:buSzPts val="1840"/>
              <a:buChar char="◼"/>
            </a:pPr>
            <a:r>
              <a:rPr lang="en-US" sz="2000">
                <a:solidFill>
                  <a:schemeClr val="dk1"/>
                </a:solidFill>
              </a:rPr>
              <a:t>Example: child born in a poor family, will live a poor life.</a:t>
            </a:r>
            <a:endParaRPr/>
          </a:p>
          <a:p>
            <a:pPr indent="-306000" lvl="0" marL="306000" rtl="0" algn="l">
              <a:lnSpc>
                <a:spcPct val="90000"/>
              </a:lnSpc>
              <a:spcBef>
                <a:spcPts val="960"/>
              </a:spcBef>
              <a:spcAft>
                <a:spcPts val="0"/>
              </a:spcAft>
              <a:buSzPts val="1656"/>
              <a:buChar char="◼"/>
            </a:pPr>
            <a:r>
              <a:rPr lang="en-US">
                <a:solidFill>
                  <a:schemeClr val="dk1"/>
                </a:solidFill>
              </a:rPr>
              <a:t>GENETIC AND ENVIRONMENT </a:t>
            </a:r>
            <a:endParaRPr>
              <a:solidFill>
                <a:schemeClr val="dk1"/>
              </a:solidFill>
            </a:endParaRPr>
          </a:p>
        </p:txBody>
      </p:sp>
      <p:sp>
        <p:nvSpPr>
          <p:cNvPr id="234" name="Google Shape;234;p25"/>
          <p:cNvSpPr/>
          <p:nvPr/>
        </p:nvSpPr>
        <p:spPr>
          <a:xfrm>
            <a:off x="5263346" y="3004304"/>
            <a:ext cx="569387" cy="40011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OR</a:t>
            </a:r>
            <a:endParaRPr b="0" i="0" sz="1400" u="none" cap="none" strike="noStrike">
              <a:solidFill>
                <a:srgbClr val="000000"/>
              </a:solidFill>
              <a:latin typeface="Arial"/>
              <a:ea typeface="Arial"/>
              <a:cs typeface="Arial"/>
              <a:sym typeface="Arial"/>
            </a:endParaRPr>
          </a:p>
        </p:txBody>
      </p:sp>
      <p:pic>
        <p:nvPicPr>
          <p:cNvPr id="235" name="Google Shape;235;p25"/>
          <p:cNvPicPr preferRelativeResize="0"/>
          <p:nvPr/>
        </p:nvPicPr>
        <p:blipFill rotWithShape="1">
          <a:blip r:embed="rId3">
            <a:alphaModFix/>
          </a:blip>
          <a:srcRect b="0" l="0" r="0" t="0"/>
          <a:stretch/>
        </p:blipFill>
        <p:spPr>
          <a:xfrm>
            <a:off x="849047" y="4206240"/>
            <a:ext cx="3235804" cy="2423160"/>
          </a:xfrm>
          <a:prstGeom prst="rect">
            <a:avLst/>
          </a:prstGeom>
          <a:noFill/>
          <a:ln>
            <a:noFill/>
          </a:ln>
        </p:spPr>
      </p:pic>
      <p:pic>
        <p:nvPicPr>
          <p:cNvPr id="236" name="Google Shape;236;p25"/>
          <p:cNvPicPr preferRelativeResize="0"/>
          <p:nvPr/>
        </p:nvPicPr>
        <p:blipFill rotWithShape="1">
          <a:blip r:embed="rId4">
            <a:alphaModFix/>
          </a:blip>
          <a:srcRect b="0" l="0" r="0" t="0"/>
          <a:stretch/>
        </p:blipFill>
        <p:spPr>
          <a:xfrm>
            <a:off x="8093122" y="4544704"/>
            <a:ext cx="3394028" cy="2084696"/>
          </a:xfrm>
          <a:prstGeom prst="rect">
            <a:avLst/>
          </a:prstGeom>
          <a:noFill/>
          <a:ln>
            <a:noFill/>
          </a:ln>
        </p:spPr>
      </p:pic>
      <p:sp>
        <p:nvSpPr>
          <p:cNvPr id="237" name="Google Shape;237;p25"/>
          <p:cNvSpPr/>
          <p:nvPr/>
        </p:nvSpPr>
        <p:spPr>
          <a:xfrm>
            <a:off x="4054837" y="4758538"/>
            <a:ext cx="4038285"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Twentieth Century"/>
                <a:ea typeface="Twentieth Century"/>
                <a:cs typeface="Twentieth Century"/>
                <a:sym typeface="Twentieth Century"/>
              </a:rPr>
              <a:t> E.g.: Criminal Behavior, Academic Achievement, Addiction, Personal Relationships, Career Choices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6"/>
          <p:cNvSpPr txBox="1"/>
          <p:nvPr>
            <p:ph type="title"/>
          </p:nvPr>
        </p:nvSpPr>
        <p:spPr>
          <a:xfrm>
            <a:off x="793630" y="804779"/>
            <a:ext cx="11029616" cy="9701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0000"/>
              </a:lnSpc>
              <a:spcBef>
                <a:spcPts val="0"/>
              </a:spcBef>
              <a:spcAft>
                <a:spcPts val="0"/>
              </a:spcAft>
              <a:buClr>
                <a:schemeClr val="lt1"/>
              </a:buClr>
              <a:buSzPct val="62222"/>
              <a:buFont typeface="Gill Sans"/>
              <a:buNone/>
            </a:pPr>
            <a:r>
              <a:rPr b="1" lang="en-US"/>
              <a:t>5. INDIVIDUAL DIFFERENCES VS. UNIVERSAL PRINCIPLES</a:t>
            </a:r>
            <a:endParaRPr b="1"/>
          </a:p>
        </p:txBody>
      </p:sp>
      <p:sp>
        <p:nvSpPr>
          <p:cNvPr id="243" name="Google Shape;243;p26"/>
          <p:cNvSpPr txBox="1"/>
          <p:nvPr>
            <p:ph idx="1" type="body"/>
          </p:nvPr>
        </p:nvSpPr>
        <p:spPr>
          <a:xfrm>
            <a:off x="581193" y="2228004"/>
            <a:ext cx="4773309" cy="2136365"/>
          </a:xfrm>
          <a:prstGeom prst="rect">
            <a:avLst/>
          </a:prstGeom>
          <a:noFill/>
          <a:ln>
            <a:noFill/>
          </a:ln>
        </p:spPr>
        <p:txBody>
          <a:bodyPr anchorCtr="0" anchor="ctr" bIns="45700" lIns="91425" spcFirstLastPara="1" rIns="91425" wrap="square" tIns="45700">
            <a:normAutofit/>
          </a:bodyPr>
          <a:lstStyle/>
          <a:p>
            <a:pPr indent="-306000" lvl="0" marL="306000" rtl="0" algn="just">
              <a:lnSpc>
                <a:spcPct val="90000"/>
              </a:lnSpc>
              <a:spcBef>
                <a:spcPts val="0"/>
              </a:spcBef>
              <a:spcAft>
                <a:spcPts val="0"/>
              </a:spcAft>
              <a:buSzPts val="1840"/>
              <a:buChar char="◼"/>
            </a:pPr>
            <a:r>
              <a:rPr lang="en-US" sz="2000">
                <a:solidFill>
                  <a:schemeClr val="dk1"/>
                </a:solidFill>
              </a:rPr>
              <a:t>Focus on the uniqueness of every individual.</a:t>
            </a:r>
            <a:endParaRPr/>
          </a:p>
          <a:p>
            <a:pPr indent="-306000" lvl="0" marL="306000" rtl="0" algn="just">
              <a:lnSpc>
                <a:spcPct val="90000"/>
              </a:lnSpc>
              <a:spcBef>
                <a:spcPts val="1000"/>
              </a:spcBef>
              <a:spcAft>
                <a:spcPts val="0"/>
              </a:spcAft>
              <a:buSzPts val="1840"/>
              <a:buChar char="◼"/>
            </a:pPr>
            <a:r>
              <a:rPr lang="en-US" sz="2000">
                <a:solidFill>
                  <a:schemeClr val="dk1"/>
                </a:solidFill>
              </a:rPr>
              <a:t>Every person’s behavior is a reflection of their distinct and special individual qualities. </a:t>
            </a:r>
            <a:endParaRPr/>
          </a:p>
        </p:txBody>
      </p:sp>
      <p:sp>
        <p:nvSpPr>
          <p:cNvPr id="244" name="Google Shape;244;p26"/>
          <p:cNvSpPr txBox="1"/>
          <p:nvPr>
            <p:ph idx="2" type="body"/>
          </p:nvPr>
        </p:nvSpPr>
        <p:spPr>
          <a:xfrm>
            <a:off x="6837527" y="2228003"/>
            <a:ext cx="4773281" cy="1819891"/>
          </a:xfrm>
          <a:prstGeom prst="rect">
            <a:avLst/>
          </a:prstGeom>
          <a:noFill/>
          <a:ln>
            <a:noFill/>
          </a:ln>
        </p:spPr>
        <p:txBody>
          <a:bodyPr anchorCtr="0" anchor="ctr" bIns="45700" lIns="91425" spcFirstLastPara="1" rIns="91425" wrap="square" tIns="45700">
            <a:normAutofit/>
          </a:bodyPr>
          <a:lstStyle/>
          <a:p>
            <a:pPr indent="-306000" lvl="0" marL="306000" rtl="0" algn="just">
              <a:lnSpc>
                <a:spcPct val="90000"/>
              </a:lnSpc>
              <a:spcBef>
                <a:spcPts val="0"/>
              </a:spcBef>
              <a:spcAft>
                <a:spcPts val="0"/>
              </a:spcAft>
              <a:buSzPts val="1840"/>
              <a:buChar char="◼"/>
            </a:pPr>
            <a:r>
              <a:rPr lang="en-US" sz="2000">
                <a:solidFill>
                  <a:schemeClr val="dk1"/>
                </a:solidFill>
              </a:rPr>
              <a:t>Based on cultural and societal norms and values.</a:t>
            </a:r>
            <a:endParaRPr sz="2000">
              <a:solidFill>
                <a:schemeClr val="dk1"/>
              </a:solidFill>
            </a:endParaRPr>
          </a:p>
        </p:txBody>
      </p:sp>
      <p:sp>
        <p:nvSpPr>
          <p:cNvPr id="245" name="Google Shape;245;p26"/>
          <p:cNvSpPr/>
          <p:nvPr/>
        </p:nvSpPr>
        <p:spPr>
          <a:xfrm>
            <a:off x="5914063" y="3064792"/>
            <a:ext cx="530915" cy="36933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rgbClr val="222222"/>
                </a:solidFill>
                <a:latin typeface="Times New Roman"/>
                <a:ea typeface="Times New Roman"/>
                <a:cs typeface="Times New Roman"/>
                <a:sym typeface="Times New Roman"/>
              </a:rPr>
              <a:t>OR</a:t>
            </a:r>
            <a:endParaRPr b="0" i="0" sz="1400" u="none" cap="none" strike="noStrike">
              <a:solidFill>
                <a:srgbClr val="000000"/>
              </a:solidFill>
              <a:latin typeface="Arial"/>
              <a:ea typeface="Arial"/>
              <a:cs typeface="Arial"/>
              <a:sym typeface="Arial"/>
            </a:endParaRPr>
          </a:p>
        </p:txBody>
      </p:sp>
      <p:pic>
        <p:nvPicPr>
          <p:cNvPr id="246" name="Google Shape;246;p26"/>
          <p:cNvPicPr preferRelativeResize="0"/>
          <p:nvPr/>
        </p:nvPicPr>
        <p:blipFill rotWithShape="1">
          <a:blip r:embed="rId3">
            <a:alphaModFix/>
          </a:blip>
          <a:srcRect b="0" l="0" r="0" t="0"/>
          <a:stretch/>
        </p:blipFill>
        <p:spPr>
          <a:xfrm>
            <a:off x="928048" y="4364369"/>
            <a:ext cx="4735773" cy="2350330"/>
          </a:xfrm>
          <a:prstGeom prst="rect">
            <a:avLst/>
          </a:prstGeom>
          <a:noFill/>
          <a:ln>
            <a:noFill/>
          </a:ln>
        </p:spPr>
      </p:pic>
      <p:sp>
        <p:nvSpPr>
          <p:cNvPr id="247" name="Google Shape;247;p26"/>
          <p:cNvSpPr/>
          <p:nvPr/>
        </p:nvSpPr>
        <p:spPr>
          <a:xfrm>
            <a:off x="7031492" y="4697512"/>
            <a:ext cx="3795908"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rgbClr val="000000"/>
                </a:solidFill>
                <a:latin typeface="Twentieth Century"/>
                <a:ea typeface="Twentieth Century"/>
                <a:cs typeface="Twentieth Century"/>
                <a:sym typeface="Twentieth Century"/>
              </a:rPr>
              <a:t>E.g.: Personality Traits, Cognitive Development, Emotional Expression, Learning Styles, Social Norms and Behavior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7"/>
          <p:cNvSpPr txBox="1"/>
          <p:nvPr>
            <p:ph type="title"/>
          </p:nvPr>
        </p:nvSpPr>
        <p:spPr>
          <a:xfrm>
            <a:off x="1024128" y="585216"/>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lang="en-US"/>
              <a:t>BRANCHES OF PSYCHOLOGY</a:t>
            </a:r>
            <a:endParaRPr/>
          </a:p>
        </p:txBody>
      </p:sp>
      <p:sp>
        <p:nvSpPr>
          <p:cNvPr id="253" name="Google Shape;253;p27"/>
          <p:cNvSpPr txBox="1"/>
          <p:nvPr>
            <p:ph idx="1" type="body"/>
          </p:nvPr>
        </p:nvSpPr>
        <p:spPr>
          <a:xfrm>
            <a:off x="1024127" y="2286000"/>
            <a:ext cx="4754880" cy="4023360"/>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l">
              <a:lnSpc>
                <a:spcPct val="90000"/>
              </a:lnSpc>
              <a:spcBef>
                <a:spcPts val="0"/>
              </a:spcBef>
              <a:spcAft>
                <a:spcPts val="0"/>
              </a:spcAft>
              <a:buSzPct val="91998"/>
              <a:buNone/>
            </a:pPr>
            <a:r>
              <a:t/>
            </a:r>
            <a:endParaRPr sz="2000">
              <a:solidFill>
                <a:schemeClr val="dk1"/>
              </a:solidFill>
            </a:endParaRPr>
          </a:p>
          <a:p>
            <a:pPr indent="-305999" lvl="0" marL="306000" rtl="0" algn="l">
              <a:lnSpc>
                <a:spcPct val="90000"/>
              </a:lnSpc>
              <a:spcBef>
                <a:spcPts val="1127"/>
              </a:spcBef>
              <a:spcAft>
                <a:spcPts val="0"/>
              </a:spcAft>
              <a:buSzPct val="92000"/>
              <a:buChar char="◼"/>
            </a:pPr>
            <a:r>
              <a:rPr lang="en-US" sz="3400">
                <a:solidFill>
                  <a:schemeClr val="dk1"/>
                </a:solidFill>
              </a:rPr>
              <a:t>Clinical psychology</a:t>
            </a:r>
            <a:endParaRPr/>
          </a:p>
          <a:p>
            <a:pPr indent="-305999" lvl="0" marL="306000" rtl="0" algn="l">
              <a:lnSpc>
                <a:spcPct val="90000"/>
              </a:lnSpc>
              <a:spcBef>
                <a:spcPts val="1127"/>
              </a:spcBef>
              <a:spcAft>
                <a:spcPts val="0"/>
              </a:spcAft>
              <a:buSzPct val="92000"/>
              <a:buChar char="◼"/>
            </a:pPr>
            <a:r>
              <a:rPr lang="en-US" sz="3400">
                <a:solidFill>
                  <a:schemeClr val="dk1"/>
                </a:solidFill>
              </a:rPr>
              <a:t>Counselling</a:t>
            </a:r>
            <a:endParaRPr/>
          </a:p>
          <a:p>
            <a:pPr indent="-305999" lvl="0" marL="306000" rtl="0" algn="l">
              <a:lnSpc>
                <a:spcPct val="90000"/>
              </a:lnSpc>
              <a:spcBef>
                <a:spcPts val="1127"/>
              </a:spcBef>
              <a:spcAft>
                <a:spcPts val="0"/>
              </a:spcAft>
              <a:buSzPct val="92000"/>
              <a:buChar char="◼"/>
            </a:pPr>
            <a:r>
              <a:rPr lang="en-US" sz="3400">
                <a:solidFill>
                  <a:schemeClr val="dk1"/>
                </a:solidFill>
              </a:rPr>
              <a:t>Developmental psychology</a:t>
            </a:r>
            <a:endParaRPr/>
          </a:p>
          <a:p>
            <a:pPr indent="-305999" lvl="0" marL="306000" rtl="0" algn="l">
              <a:lnSpc>
                <a:spcPct val="90000"/>
              </a:lnSpc>
              <a:spcBef>
                <a:spcPts val="1127"/>
              </a:spcBef>
              <a:spcAft>
                <a:spcPts val="0"/>
              </a:spcAft>
              <a:buSzPct val="92000"/>
              <a:buChar char="◼"/>
            </a:pPr>
            <a:r>
              <a:rPr lang="en-US" sz="3400">
                <a:solidFill>
                  <a:schemeClr val="dk1"/>
                </a:solidFill>
              </a:rPr>
              <a:t>Social psychology</a:t>
            </a:r>
            <a:endParaRPr/>
          </a:p>
          <a:p>
            <a:pPr indent="-305999" lvl="0" marL="306000" rtl="0" algn="l">
              <a:lnSpc>
                <a:spcPct val="90000"/>
              </a:lnSpc>
              <a:spcBef>
                <a:spcPts val="1127"/>
              </a:spcBef>
              <a:spcAft>
                <a:spcPts val="0"/>
              </a:spcAft>
              <a:buSzPct val="92000"/>
              <a:buChar char="◼"/>
            </a:pPr>
            <a:r>
              <a:rPr lang="en-US" sz="3400">
                <a:solidFill>
                  <a:schemeClr val="dk1"/>
                </a:solidFill>
              </a:rPr>
              <a:t>School and Educational psychology</a:t>
            </a:r>
            <a:endParaRPr/>
          </a:p>
          <a:p>
            <a:pPr indent="-305999" lvl="0" marL="306000" rtl="0" algn="l">
              <a:lnSpc>
                <a:spcPct val="90000"/>
              </a:lnSpc>
              <a:spcBef>
                <a:spcPts val="1127"/>
              </a:spcBef>
              <a:spcAft>
                <a:spcPts val="0"/>
              </a:spcAft>
              <a:buSzPct val="92000"/>
              <a:buChar char="◼"/>
            </a:pPr>
            <a:r>
              <a:rPr lang="en-US" sz="3400">
                <a:solidFill>
                  <a:schemeClr val="dk1"/>
                </a:solidFill>
              </a:rPr>
              <a:t>Industrial and Organizational psychology</a:t>
            </a:r>
            <a:endParaRPr/>
          </a:p>
          <a:p>
            <a:pPr indent="-152063" lvl="0" marL="306000" rtl="0" algn="l">
              <a:lnSpc>
                <a:spcPct val="90000"/>
              </a:lnSpc>
              <a:spcBef>
                <a:spcPts val="1127"/>
              </a:spcBef>
              <a:spcAft>
                <a:spcPts val="0"/>
              </a:spcAft>
              <a:buSzPct val="92000"/>
              <a:buNone/>
            </a:pPr>
            <a:r>
              <a:t/>
            </a:r>
            <a:endParaRPr sz="3400">
              <a:solidFill>
                <a:schemeClr val="dk1"/>
              </a:solidFill>
            </a:endParaRPr>
          </a:p>
          <a:p>
            <a:pPr indent="0" lvl="0" marL="0" rtl="0" algn="l">
              <a:lnSpc>
                <a:spcPct val="90000"/>
              </a:lnSpc>
              <a:spcBef>
                <a:spcPts val="879"/>
              </a:spcBef>
              <a:spcAft>
                <a:spcPts val="0"/>
              </a:spcAft>
              <a:buSzPct val="91999"/>
              <a:buNone/>
            </a:pPr>
            <a:r>
              <a:t/>
            </a:r>
            <a:endParaRPr/>
          </a:p>
        </p:txBody>
      </p:sp>
      <p:sp>
        <p:nvSpPr>
          <p:cNvPr id="254" name="Google Shape;254;p27"/>
          <p:cNvSpPr txBox="1"/>
          <p:nvPr>
            <p:ph idx="2" type="body"/>
          </p:nvPr>
        </p:nvSpPr>
        <p:spPr>
          <a:xfrm>
            <a:off x="5989320" y="2286000"/>
            <a:ext cx="4754880" cy="4023360"/>
          </a:xfrm>
          <a:prstGeom prst="rect">
            <a:avLst/>
          </a:prstGeom>
          <a:noFill/>
          <a:ln>
            <a:noFill/>
          </a:ln>
        </p:spPr>
        <p:txBody>
          <a:bodyPr anchorCtr="0" anchor="ctr" bIns="45700" lIns="91425" spcFirstLastPara="1" rIns="91425" wrap="square" tIns="45700">
            <a:normAutofit fontScale="92500" lnSpcReduction="20000"/>
          </a:bodyPr>
          <a:lstStyle/>
          <a:p>
            <a:pPr indent="-305999" lvl="0" marL="306000" rtl="0" algn="l">
              <a:lnSpc>
                <a:spcPct val="90000"/>
              </a:lnSpc>
              <a:spcBef>
                <a:spcPts val="0"/>
              </a:spcBef>
              <a:spcAft>
                <a:spcPts val="0"/>
              </a:spcAft>
              <a:buSzPct val="92000"/>
              <a:buChar char="◼"/>
            </a:pPr>
            <a:r>
              <a:rPr lang="en-US" sz="3400">
                <a:solidFill>
                  <a:schemeClr val="dk1"/>
                </a:solidFill>
              </a:rPr>
              <a:t>Sports psychology</a:t>
            </a:r>
            <a:endParaRPr/>
          </a:p>
          <a:p>
            <a:pPr indent="-305999" lvl="0" marL="306000" rtl="0" algn="l">
              <a:lnSpc>
                <a:spcPct val="90000"/>
              </a:lnSpc>
              <a:spcBef>
                <a:spcPts val="1127"/>
              </a:spcBef>
              <a:spcAft>
                <a:spcPts val="0"/>
              </a:spcAft>
              <a:buSzPct val="92000"/>
              <a:buChar char="◼"/>
            </a:pPr>
            <a:r>
              <a:rPr lang="en-US" sz="3400">
                <a:solidFill>
                  <a:schemeClr val="dk1"/>
                </a:solidFill>
              </a:rPr>
              <a:t>Forensic psychology</a:t>
            </a:r>
            <a:endParaRPr sz="3400">
              <a:solidFill>
                <a:schemeClr val="dk1"/>
              </a:solidFill>
            </a:endParaRPr>
          </a:p>
          <a:p>
            <a:pPr indent="-305999" lvl="0" marL="306000" rtl="0" algn="l">
              <a:lnSpc>
                <a:spcPct val="90000"/>
              </a:lnSpc>
              <a:spcBef>
                <a:spcPts val="1127"/>
              </a:spcBef>
              <a:spcAft>
                <a:spcPts val="0"/>
              </a:spcAft>
              <a:buSzPct val="92000"/>
              <a:buChar char="◼"/>
            </a:pPr>
            <a:r>
              <a:rPr lang="en-US" sz="3400">
                <a:solidFill>
                  <a:schemeClr val="dk1"/>
                </a:solidFill>
              </a:rPr>
              <a:t>Health psychology</a:t>
            </a:r>
            <a:endParaRPr/>
          </a:p>
          <a:p>
            <a:pPr indent="-224504" lvl="0" marL="306000" rtl="0" algn="l">
              <a:lnSpc>
                <a:spcPct val="90000"/>
              </a:lnSpc>
              <a:spcBef>
                <a:spcPts val="879"/>
              </a:spcBef>
              <a:spcAft>
                <a:spcPts val="0"/>
              </a:spcAft>
              <a:buSzPct val="91999"/>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28"/>
          <p:cNvPicPr preferRelativeResize="0"/>
          <p:nvPr>
            <p:ph idx="1" type="body"/>
          </p:nvPr>
        </p:nvPicPr>
        <p:blipFill rotWithShape="1">
          <a:blip r:embed="rId3">
            <a:alphaModFix/>
          </a:blip>
          <a:srcRect b="0" l="0" r="0" t="0"/>
          <a:stretch/>
        </p:blipFill>
        <p:spPr>
          <a:xfrm>
            <a:off x="988292" y="637310"/>
            <a:ext cx="10012218" cy="56621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29"/>
          <p:cNvPicPr preferRelativeResize="0"/>
          <p:nvPr>
            <p:ph idx="1" type="body"/>
          </p:nvPr>
        </p:nvPicPr>
        <p:blipFill rotWithShape="1">
          <a:blip r:embed="rId3">
            <a:alphaModFix/>
          </a:blip>
          <a:srcRect b="0" l="0" r="0" t="0"/>
          <a:stretch/>
        </p:blipFill>
        <p:spPr>
          <a:xfrm>
            <a:off x="1034473" y="1016000"/>
            <a:ext cx="10363199" cy="5292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0"/>
          <p:cNvSpPr txBox="1"/>
          <p:nvPr>
            <p:ph type="title"/>
          </p:nvPr>
        </p:nvSpPr>
        <p:spPr>
          <a:xfrm>
            <a:off x="820928" y="14670"/>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3200"/>
              <a:buFont typeface="Gill Sans"/>
              <a:buNone/>
            </a:pPr>
            <a:r>
              <a:rPr b="1" lang="en-US" sz="4400"/>
              <a:t>GESTALT PSYCHOLOGY</a:t>
            </a:r>
            <a:endParaRPr b="1" sz="4400"/>
          </a:p>
        </p:txBody>
      </p:sp>
      <p:pic>
        <p:nvPicPr>
          <p:cNvPr id="270" name="Google Shape;270;p30"/>
          <p:cNvPicPr preferRelativeResize="0"/>
          <p:nvPr>
            <p:ph idx="1" type="body"/>
          </p:nvPr>
        </p:nvPicPr>
        <p:blipFill rotWithShape="1">
          <a:blip r:embed="rId3">
            <a:alphaModFix/>
          </a:blip>
          <a:srcRect b="0" l="0" r="0" t="0"/>
          <a:stretch/>
        </p:blipFill>
        <p:spPr>
          <a:xfrm>
            <a:off x="682792" y="1951628"/>
            <a:ext cx="4019052" cy="4612943"/>
          </a:xfrm>
          <a:prstGeom prst="rect">
            <a:avLst/>
          </a:prstGeom>
          <a:noFill/>
          <a:ln>
            <a:noFill/>
          </a:ln>
        </p:spPr>
      </p:pic>
      <p:pic>
        <p:nvPicPr>
          <p:cNvPr id="271" name="Google Shape;271;p30"/>
          <p:cNvPicPr preferRelativeResize="0"/>
          <p:nvPr/>
        </p:nvPicPr>
        <p:blipFill rotWithShape="1">
          <a:blip r:embed="rId4">
            <a:alphaModFix/>
          </a:blip>
          <a:srcRect b="0" l="0" r="0" t="0"/>
          <a:stretch/>
        </p:blipFill>
        <p:spPr>
          <a:xfrm>
            <a:off x="5613591" y="1514286"/>
            <a:ext cx="5487628" cy="548762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31"/>
          <p:cNvPicPr preferRelativeResize="0"/>
          <p:nvPr>
            <p:ph idx="1" type="body"/>
          </p:nvPr>
        </p:nvPicPr>
        <p:blipFill rotWithShape="1">
          <a:blip r:embed="rId3">
            <a:alphaModFix/>
          </a:blip>
          <a:srcRect b="0" l="0" r="0" t="0"/>
          <a:stretch/>
        </p:blipFill>
        <p:spPr>
          <a:xfrm>
            <a:off x="3934336" y="1251527"/>
            <a:ext cx="4028774" cy="40227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32"/>
          <p:cNvPicPr preferRelativeResize="0"/>
          <p:nvPr>
            <p:ph idx="1" type="body"/>
          </p:nvPr>
        </p:nvPicPr>
        <p:blipFill rotWithShape="1">
          <a:blip r:embed="rId3">
            <a:alphaModFix/>
          </a:blip>
          <a:srcRect b="0" l="0" r="0" t="47482"/>
          <a:stretch/>
        </p:blipFill>
        <p:spPr>
          <a:xfrm>
            <a:off x="1127760" y="1171903"/>
            <a:ext cx="10414000" cy="517080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33"/>
          <p:cNvPicPr preferRelativeResize="0"/>
          <p:nvPr>
            <p:ph idx="1" type="body"/>
          </p:nvPr>
        </p:nvPicPr>
        <p:blipFill rotWithShape="1">
          <a:blip r:embed="rId3">
            <a:alphaModFix/>
          </a:blip>
          <a:srcRect b="0" l="0" r="0" t="0"/>
          <a:stretch/>
        </p:blipFill>
        <p:spPr>
          <a:xfrm>
            <a:off x="965200" y="365760"/>
            <a:ext cx="10342880" cy="578104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4"/>
          <p:cNvSpPr txBox="1"/>
          <p:nvPr>
            <p:ph idx="1" type="body"/>
          </p:nvPr>
        </p:nvSpPr>
        <p:spPr>
          <a:xfrm>
            <a:off x="1171909" y="1667163"/>
            <a:ext cx="9720073" cy="4023360"/>
          </a:xfrm>
          <a:prstGeom prst="rect">
            <a:avLst/>
          </a:prstGeom>
          <a:noFill/>
          <a:ln>
            <a:noFill/>
          </a:ln>
        </p:spPr>
        <p:txBody>
          <a:bodyPr anchorCtr="0" anchor="ctr" bIns="45700" lIns="91425" spcFirstLastPara="1" rIns="91425" wrap="square" tIns="45700">
            <a:normAutofit/>
          </a:bodyPr>
          <a:lstStyle/>
          <a:p>
            <a:pPr indent="-306000" lvl="0" marL="306000" rtl="0" algn="just">
              <a:lnSpc>
                <a:spcPct val="90000"/>
              </a:lnSpc>
              <a:spcBef>
                <a:spcPts val="0"/>
              </a:spcBef>
              <a:spcAft>
                <a:spcPts val="0"/>
              </a:spcAft>
              <a:buSzPts val="2208"/>
              <a:buChar char="◼"/>
            </a:pPr>
            <a:r>
              <a:rPr lang="en-US" sz="2800">
                <a:solidFill>
                  <a:srgbClr val="FF0000"/>
                </a:solidFill>
                <a:latin typeface="Gill Sans"/>
                <a:ea typeface="Gill Sans"/>
                <a:cs typeface="Gill Sans"/>
                <a:sym typeface="Gill Sans"/>
              </a:rPr>
              <a:t>Max Wertheimer</a:t>
            </a:r>
            <a:r>
              <a:rPr lang="en-US" sz="2800">
                <a:solidFill>
                  <a:srgbClr val="202124"/>
                </a:solidFill>
                <a:latin typeface="Gill Sans"/>
                <a:ea typeface="Gill Sans"/>
                <a:cs typeface="Gill Sans"/>
                <a:sym typeface="Gill Sans"/>
              </a:rPr>
              <a:t> (1880–1943), </a:t>
            </a:r>
            <a:r>
              <a:rPr lang="en-US" sz="2800">
                <a:solidFill>
                  <a:srgbClr val="FF0000"/>
                </a:solidFill>
                <a:latin typeface="Gill Sans"/>
                <a:ea typeface="Gill Sans"/>
                <a:cs typeface="Gill Sans"/>
                <a:sym typeface="Gill Sans"/>
              </a:rPr>
              <a:t>Kurt Koffka </a:t>
            </a:r>
            <a:r>
              <a:rPr lang="en-US" sz="2800">
                <a:solidFill>
                  <a:srgbClr val="202124"/>
                </a:solidFill>
                <a:latin typeface="Gill Sans"/>
                <a:ea typeface="Gill Sans"/>
                <a:cs typeface="Gill Sans"/>
                <a:sym typeface="Gill Sans"/>
              </a:rPr>
              <a:t>(1886–1941), and </a:t>
            </a:r>
            <a:r>
              <a:rPr lang="en-US" sz="2800">
                <a:solidFill>
                  <a:srgbClr val="FF0000"/>
                </a:solidFill>
                <a:latin typeface="Gill Sans"/>
                <a:ea typeface="Gill Sans"/>
                <a:cs typeface="Gill Sans"/>
                <a:sym typeface="Gill Sans"/>
              </a:rPr>
              <a:t>Wolfgang Köhler </a:t>
            </a:r>
            <a:r>
              <a:rPr lang="en-US" sz="2800">
                <a:solidFill>
                  <a:srgbClr val="202124"/>
                </a:solidFill>
                <a:latin typeface="Gill Sans"/>
                <a:ea typeface="Gill Sans"/>
                <a:cs typeface="Gill Sans"/>
                <a:sym typeface="Gill Sans"/>
              </a:rPr>
              <a:t>(1887–1967) founded Gestalt psychology in the early 20th century.</a:t>
            </a:r>
            <a:endParaRPr sz="2800">
              <a:solidFill>
                <a:schemeClr val="dk1"/>
              </a:solidFill>
              <a:latin typeface="Gill Sans"/>
              <a:ea typeface="Gill Sans"/>
              <a:cs typeface="Gill Sans"/>
              <a:sym typeface="Gill Sans"/>
            </a:endParaRPr>
          </a:p>
          <a:p>
            <a:pPr indent="-306000" lvl="0" marL="306000" rtl="0" algn="just">
              <a:lnSpc>
                <a:spcPct val="90000"/>
              </a:lnSpc>
              <a:spcBef>
                <a:spcPts val="1080"/>
              </a:spcBef>
              <a:spcAft>
                <a:spcPts val="0"/>
              </a:spcAft>
              <a:buSzPts val="2208"/>
              <a:buChar char="◼"/>
            </a:pPr>
            <a:r>
              <a:rPr lang="en-US" sz="2800">
                <a:solidFill>
                  <a:schemeClr val="dk1"/>
                </a:solidFill>
                <a:latin typeface="Gill Sans"/>
                <a:ea typeface="Gill Sans"/>
                <a:cs typeface="Gill Sans"/>
                <a:sym typeface="Gill Sans"/>
              </a:rPr>
              <a:t>The whole is different from the sum of its parts.</a:t>
            </a:r>
            <a:endParaRPr sz="2800"/>
          </a:p>
          <a:p>
            <a:pPr indent="-306000" lvl="0" marL="306000" rtl="0" algn="just">
              <a:lnSpc>
                <a:spcPct val="90000"/>
              </a:lnSpc>
              <a:spcBef>
                <a:spcPts val="1080"/>
              </a:spcBef>
              <a:spcAft>
                <a:spcPts val="0"/>
              </a:spcAft>
              <a:buSzPts val="2208"/>
              <a:buChar char="◼"/>
            </a:pPr>
            <a:r>
              <a:rPr lang="en-US" sz="2800">
                <a:solidFill>
                  <a:schemeClr val="dk1"/>
                </a:solidFill>
                <a:latin typeface="Gill Sans"/>
                <a:ea typeface="Gill Sans"/>
                <a:cs typeface="Gill Sans"/>
                <a:sym typeface="Gill Sans"/>
              </a:rPr>
              <a:t>Our perception or understanding of objects is greater and more meaningful  than the individuals elements that make up our perceptions. </a:t>
            </a:r>
            <a:endParaRPr sz="2800"/>
          </a:p>
          <a:p>
            <a:pPr indent="-165792" lvl="0" marL="306000" rtl="0" algn="l">
              <a:lnSpc>
                <a:spcPct val="90000"/>
              </a:lnSpc>
              <a:spcBef>
                <a:spcPts val="1080"/>
              </a:spcBef>
              <a:spcAft>
                <a:spcPts val="0"/>
              </a:spcAft>
              <a:buSzPts val="2208"/>
              <a:buNone/>
            </a:pPr>
            <a:r>
              <a:t/>
            </a:r>
            <a:endParaRPr sz="2400">
              <a:solidFill>
                <a:schemeClr val="dk1"/>
              </a:solidFill>
            </a:endParaRPr>
          </a:p>
          <a:p>
            <a:pPr indent="-165792" lvl="0" marL="306000" rtl="0" algn="l">
              <a:lnSpc>
                <a:spcPct val="90000"/>
              </a:lnSpc>
              <a:spcBef>
                <a:spcPts val="1080"/>
              </a:spcBef>
              <a:spcAft>
                <a:spcPts val="0"/>
              </a:spcAft>
              <a:buSzPts val="2208"/>
              <a:buNone/>
            </a:pPr>
            <a:r>
              <a:t/>
            </a:r>
            <a:endParaRPr sz="2400">
              <a:solidFill>
                <a:schemeClr val="dk1"/>
              </a:solidFill>
            </a:endParaRPr>
          </a:p>
        </p:txBody>
      </p:sp>
      <p:pic>
        <p:nvPicPr>
          <p:cNvPr id="293" name="Google Shape;293;p34"/>
          <p:cNvPicPr preferRelativeResize="0"/>
          <p:nvPr/>
        </p:nvPicPr>
        <p:blipFill rotWithShape="1">
          <a:blip r:embed="rId3">
            <a:alphaModFix/>
          </a:blip>
          <a:srcRect b="0" l="0" r="0" t="0"/>
          <a:stretch/>
        </p:blipFill>
        <p:spPr>
          <a:xfrm>
            <a:off x="5114016" y="4754481"/>
            <a:ext cx="5870957" cy="139610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5"/>
          <p:cNvSpPr txBox="1"/>
          <p:nvPr>
            <p:ph idx="1" type="body"/>
          </p:nvPr>
        </p:nvSpPr>
        <p:spPr>
          <a:xfrm>
            <a:off x="1134964" y="1639454"/>
            <a:ext cx="10518556" cy="4669906"/>
          </a:xfrm>
          <a:prstGeom prst="rect">
            <a:avLst/>
          </a:prstGeom>
          <a:noFill/>
          <a:ln>
            <a:noFill/>
          </a:ln>
        </p:spPr>
        <p:txBody>
          <a:bodyPr anchorCtr="0" anchor="ctr" bIns="45700" lIns="91425" spcFirstLastPara="1" rIns="91425" wrap="square" tIns="45700">
            <a:noAutofit/>
          </a:bodyPr>
          <a:lstStyle/>
          <a:p>
            <a:pPr indent="-306000" lvl="0" marL="306000" rtl="0" algn="just">
              <a:lnSpc>
                <a:spcPct val="90000"/>
              </a:lnSpc>
              <a:spcBef>
                <a:spcPts val="0"/>
              </a:spcBef>
              <a:spcAft>
                <a:spcPts val="0"/>
              </a:spcAft>
              <a:buSzPts val="2208"/>
              <a:buChar char="◼"/>
            </a:pPr>
            <a:r>
              <a:rPr lang="en-US" sz="2800">
                <a:solidFill>
                  <a:schemeClr val="dk1"/>
                </a:solidFill>
              </a:rPr>
              <a:t>When trying to make sense of the world around us, Gestalt psychology suggests that we do not simply focus on every small component. Instead, our minds tend to perceive objects as part of a greater whole and as elements of more complex systems.</a:t>
            </a:r>
            <a:endParaRPr sz="2800"/>
          </a:p>
          <a:p>
            <a:pPr indent="-165792" lvl="0" marL="306000" rtl="0" algn="l">
              <a:lnSpc>
                <a:spcPct val="90000"/>
              </a:lnSpc>
              <a:spcBef>
                <a:spcPts val="1080"/>
              </a:spcBef>
              <a:spcAft>
                <a:spcPts val="0"/>
              </a:spcAft>
              <a:buSzPts val="2208"/>
              <a:buNone/>
            </a:pPr>
            <a:r>
              <a:t/>
            </a:r>
            <a:endParaRPr sz="2800">
              <a:solidFill>
                <a:schemeClr val="dk1"/>
              </a:solidFill>
            </a:endParaRPr>
          </a:p>
          <a:p>
            <a:pPr indent="-306000" lvl="0" marL="306000" rtl="0" algn="just">
              <a:lnSpc>
                <a:spcPct val="90000"/>
              </a:lnSpc>
              <a:spcBef>
                <a:spcPts val="1080"/>
              </a:spcBef>
              <a:spcAft>
                <a:spcPts val="0"/>
              </a:spcAft>
              <a:buSzPts val="2208"/>
              <a:buChar char="◼"/>
            </a:pPr>
            <a:r>
              <a:rPr lang="en-US" sz="2800">
                <a:solidFill>
                  <a:schemeClr val="dk1"/>
                </a:solidFill>
              </a:rPr>
              <a:t>This school of psychology played a major role in the modern development of the study of human sensation and perception.</a:t>
            </a:r>
            <a:endParaRPr sz="28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6"/>
          <p:cNvSpPr txBox="1"/>
          <p:nvPr>
            <p:ph type="title"/>
          </p:nvPr>
        </p:nvSpPr>
        <p:spPr>
          <a:xfrm>
            <a:off x="922528" y="0"/>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3200"/>
              <a:buFont typeface="Gill Sans"/>
              <a:buNone/>
            </a:pPr>
            <a:r>
              <a:rPr b="1" lang="en-US" sz="4400"/>
              <a:t>SIGMUND FREUD (1856-1939)</a:t>
            </a:r>
            <a:endParaRPr b="1" sz="4400"/>
          </a:p>
        </p:txBody>
      </p:sp>
      <p:sp>
        <p:nvSpPr>
          <p:cNvPr id="304" name="Google Shape;304;p36"/>
          <p:cNvSpPr txBox="1"/>
          <p:nvPr>
            <p:ph idx="1" type="body"/>
          </p:nvPr>
        </p:nvSpPr>
        <p:spPr>
          <a:xfrm>
            <a:off x="2985246" y="2180496"/>
            <a:ext cx="5015754" cy="4288543"/>
          </a:xfrm>
          <a:prstGeom prst="rect">
            <a:avLst/>
          </a:prstGeom>
          <a:noFill/>
          <a:ln>
            <a:noFill/>
          </a:ln>
        </p:spPr>
        <p:txBody>
          <a:bodyPr anchorCtr="0" anchor="ctr" bIns="45700" lIns="91425" spcFirstLastPara="1" rIns="91425" wrap="square" tIns="45700">
            <a:noAutofit/>
          </a:bodyPr>
          <a:lstStyle/>
          <a:p>
            <a:pPr indent="-306000" lvl="0" marL="306000" rtl="0" algn="just">
              <a:lnSpc>
                <a:spcPct val="90000"/>
              </a:lnSpc>
              <a:spcBef>
                <a:spcPts val="0"/>
              </a:spcBef>
              <a:spcAft>
                <a:spcPts val="0"/>
              </a:spcAft>
              <a:buSzPts val="2208"/>
              <a:buChar char="◼"/>
            </a:pPr>
            <a:r>
              <a:rPr lang="en-US" sz="2400">
                <a:solidFill>
                  <a:schemeClr val="dk1"/>
                </a:solidFill>
                <a:latin typeface="Gill Sans"/>
                <a:ea typeface="Gill Sans"/>
                <a:cs typeface="Gill Sans"/>
                <a:sym typeface="Gill Sans"/>
              </a:rPr>
              <a:t>Austrian physician who founded the psychoanalytic</a:t>
            </a:r>
            <a:r>
              <a:rPr lang="en-US" sz="2400">
                <a:solidFill>
                  <a:schemeClr val="dk1"/>
                </a:solidFill>
              </a:rPr>
              <a:t> </a:t>
            </a:r>
            <a:r>
              <a:rPr lang="en-US" sz="2400">
                <a:solidFill>
                  <a:schemeClr val="dk1"/>
                </a:solidFill>
                <a:latin typeface="Gill Sans"/>
                <a:ea typeface="Gill Sans"/>
                <a:cs typeface="Gill Sans"/>
                <a:sym typeface="Gill Sans"/>
              </a:rPr>
              <a:t>approach to psychology.</a:t>
            </a:r>
            <a:endParaRPr/>
          </a:p>
          <a:p>
            <a:pPr indent="-306000" lvl="0" marL="306000" rtl="0" algn="just">
              <a:lnSpc>
                <a:spcPct val="90000"/>
              </a:lnSpc>
              <a:spcBef>
                <a:spcPts val="1080"/>
              </a:spcBef>
              <a:spcAft>
                <a:spcPts val="0"/>
              </a:spcAft>
              <a:buSzPts val="2208"/>
              <a:buChar char="◼"/>
            </a:pPr>
            <a:r>
              <a:rPr b="1" lang="en-US" sz="2400">
                <a:solidFill>
                  <a:schemeClr val="accent3"/>
                </a:solidFill>
                <a:latin typeface="Arial"/>
                <a:ea typeface="Arial"/>
                <a:cs typeface="Arial"/>
                <a:sym typeface="Arial"/>
              </a:rPr>
              <a:t>Freud developed a theory based on the existence of the unconscious</a:t>
            </a:r>
            <a:r>
              <a:rPr lang="en-US" sz="2400">
                <a:solidFill>
                  <a:schemeClr val="accent3"/>
                </a:solidFill>
                <a:latin typeface="Arial"/>
                <a:ea typeface="Arial"/>
                <a:cs typeface="Arial"/>
                <a:sym typeface="Arial"/>
              </a:rPr>
              <a:t>.</a:t>
            </a:r>
            <a:endParaRPr/>
          </a:p>
          <a:p>
            <a:pPr indent="-306000" lvl="0" marL="306000" rtl="0" algn="just">
              <a:lnSpc>
                <a:spcPct val="90000"/>
              </a:lnSpc>
              <a:spcBef>
                <a:spcPts val="1080"/>
              </a:spcBef>
              <a:spcAft>
                <a:spcPts val="0"/>
              </a:spcAft>
              <a:buSzPts val="2208"/>
              <a:buChar char="◼"/>
            </a:pPr>
            <a:r>
              <a:rPr lang="en-US" sz="2400">
                <a:solidFill>
                  <a:schemeClr val="dk1"/>
                </a:solidFill>
              </a:rPr>
              <a:t>According to him emotional and behavioral </a:t>
            </a:r>
            <a:r>
              <a:rPr lang="en-US" sz="2400">
                <a:solidFill>
                  <a:schemeClr val="dk1"/>
                </a:solidFill>
                <a:latin typeface="Gill Sans"/>
                <a:ea typeface="Gill Sans"/>
                <a:cs typeface="Gill Sans"/>
                <a:sym typeface="Gill Sans"/>
              </a:rPr>
              <a:t> disturbances were based on personal conflicts on an unconscious level.</a:t>
            </a:r>
            <a:endParaRPr/>
          </a:p>
          <a:p>
            <a:pPr indent="-165792" lvl="0" marL="306000" rtl="0" algn="just">
              <a:lnSpc>
                <a:spcPct val="90000"/>
              </a:lnSpc>
              <a:spcBef>
                <a:spcPts val="1080"/>
              </a:spcBef>
              <a:spcAft>
                <a:spcPts val="0"/>
              </a:spcAft>
              <a:buSzPts val="2208"/>
              <a:buNone/>
            </a:pPr>
            <a:r>
              <a:t/>
            </a:r>
            <a:endParaRPr sz="2400">
              <a:solidFill>
                <a:schemeClr val="dk1"/>
              </a:solidFill>
            </a:endParaRPr>
          </a:p>
        </p:txBody>
      </p:sp>
      <p:pic>
        <p:nvPicPr>
          <p:cNvPr id="305" name="Google Shape;305;p36"/>
          <p:cNvPicPr preferRelativeResize="0"/>
          <p:nvPr/>
        </p:nvPicPr>
        <p:blipFill rotWithShape="1">
          <a:blip r:embed="rId3">
            <a:alphaModFix/>
          </a:blip>
          <a:srcRect b="0" l="0" r="0" t="0"/>
          <a:stretch/>
        </p:blipFill>
        <p:spPr>
          <a:xfrm flipH="1">
            <a:off x="127562" y="2180495"/>
            <a:ext cx="2857684" cy="4032045"/>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568"/>
              </a:srgbClr>
            </a:outerShdw>
          </a:effectLst>
        </p:spPr>
      </p:pic>
      <p:pic>
        <p:nvPicPr>
          <p:cNvPr id="306" name="Google Shape;306;p36"/>
          <p:cNvPicPr preferRelativeResize="0"/>
          <p:nvPr/>
        </p:nvPicPr>
        <p:blipFill rotWithShape="1">
          <a:blip r:embed="rId4">
            <a:alphaModFix/>
          </a:blip>
          <a:srcRect b="0" l="0" r="0" t="0"/>
          <a:stretch/>
        </p:blipFill>
        <p:spPr>
          <a:xfrm>
            <a:off x="8296585" y="2030506"/>
            <a:ext cx="3700070" cy="443853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7"/>
          <p:cNvSpPr txBox="1"/>
          <p:nvPr>
            <p:ph idx="1" type="body"/>
          </p:nvPr>
        </p:nvSpPr>
        <p:spPr>
          <a:xfrm>
            <a:off x="342022" y="2317132"/>
            <a:ext cx="7418562" cy="4309014"/>
          </a:xfrm>
          <a:prstGeom prst="rect">
            <a:avLst/>
          </a:prstGeom>
          <a:noFill/>
          <a:ln>
            <a:noFill/>
          </a:ln>
        </p:spPr>
        <p:txBody>
          <a:bodyPr anchorCtr="0" anchor="ctr" bIns="45700" lIns="91425" spcFirstLastPara="1" rIns="91425" wrap="square" tIns="45700">
            <a:normAutofit/>
          </a:bodyPr>
          <a:lstStyle/>
          <a:p>
            <a:pPr indent="-306000" lvl="0" marL="306000" rtl="0" algn="just">
              <a:lnSpc>
                <a:spcPct val="90000"/>
              </a:lnSpc>
              <a:spcBef>
                <a:spcPts val="0"/>
              </a:spcBef>
              <a:spcAft>
                <a:spcPts val="0"/>
              </a:spcAft>
              <a:buSzPts val="2392"/>
              <a:buChar char="◼"/>
            </a:pPr>
            <a:r>
              <a:rPr lang="en-US" sz="2600">
                <a:solidFill>
                  <a:schemeClr val="dk1"/>
                </a:solidFill>
              </a:rPr>
              <a:t>At the center of Freud’s theory is the concept of the unconscious – the thoughts, attitudes, impulses, wishes ,motivations, and emotions of which we are unaware.</a:t>
            </a:r>
            <a:endParaRPr/>
          </a:p>
          <a:p>
            <a:pPr indent="-306000" lvl="0" marL="306000" rtl="0" algn="just">
              <a:lnSpc>
                <a:spcPct val="90000"/>
              </a:lnSpc>
              <a:spcBef>
                <a:spcPts val="1081"/>
              </a:spcBef>
              <a:spcAft>
                <a:spcPts val="0"/>
              </a:spcAft>
              <a:buSzPts val="2392"/>
              <a:buChar char="◼"/>
            </a:pPr>
            <a:r>
              <a:rPr lang="en-US" sz="2600">
                <a:solidFill>
                  <a:schemeClr val="dk1"/>
                </a:solidFill>
              </a:rPr>
              <a:t>Childhood’s unacceptable (forbidden or punished) wishes are driven out of conscious awareness and become part of the unconscious, where they continue to influence our thoughts, feelings, and actions.</a:t>
            </a:r>
            <a:endParaRPr/>
          </a:p>
          <a:p>
            <a:pPr indent="-306000" lvl="0" marL="306000" rtl="0" algn="just">
              <a:lnSpc>
                <a:spcPct val="90000"/>
              </a:lnSpc>
              <a:spcBef>
                <a:spcPts val="1081"/>
              </a:spcBef>
              <a:spcAft>
                <a:spcPts val="0"/>
              </a:spcAft>
              <a:buSzPts val="2392"/>
              <a:buChar char="◼"/>
            </a:pPr>
            <a:r>
              <a:rPr b="1" lang="en-US" sz="2600">
                <a:solidFill>
                  <a:schemeClr val="dk1"/>
                </a:solidFill>
              </a:rPr>
              <a:t>Unconscious thoughts are </a:t>
            </a:r>
            <a:endParaRPr/>
          </a:p>
          <a:p>
            <a:pPr indent="0" lvl="0" marL="0" rtl="0" algn="just">
              <a:lnSpc>
                <a:spcPct val="90000"/>
              </a:lnSpc>
              <a:spcBef>
                <a:spcPts val="1081"/>
              </a:spcBef>
              <a:spcAft>
                <a:spcPts val="0"/>
              </a:spcAft>
              <a:buSzPts val="2392"/>
              <a:buNone/>
            </a:pPr>
            <a:r>
              <a:rPr b="1" lang="en-US" sz="2600">
                <a:solidFill>
                  <a:schemeClr val="dk1"/>
                </a:solidFill>
              </a:rPr>
              <a:t>expressed in dreams, slips of the </a:t>
            </a:r>
            <a:endParaRPr b="1" sz="2600">
              <a:solidFill>
                <a:schemeClr val="dk1"/>
              </a:solidFill>
            </a:endParaRPr>
          </a:p>
          <a:p>
            <a:pPr indent="0" lvl="0" marL="0" rtl="0" algn="just">
              <a:lnSpc>
                <a:spcPct val="90000"/>
              </a:lnSpc>
              <a:spcBef>
                <a:spcPts val="1081"/>
              </a:spcBef>
              <a:spcAft>
                <a:spcPts val="0"/>
              </a:spcAft>
              <a:buSzPts val="2392"/>
              <a:buNone/>
            </a:pPr>
            <a:r>
              <a:rPr b="1" lang="en-US" sz="2600">
                <a:solidFill>
                  <a:schemeClr val="dk1"/>
                </a:solidFill>
              </a:rPr>
              <a:t>tongue, and physical mannerisms. </a:t>
            </a:r>
            <a:endParaRPr b="1" sz="2600">
              <a:solidFill>
                <a:schemeClr val="dk1"/>
              </a:solidFill>
            </a:endParaRPr>
          </a:p>
          <a:p>
            <a:pPr indent="-165499" lvl="0" marL="306000" rtl="0" algn="just">
              <a:lnSpc>
                <a:spcPct val="90000"/>
              </a:lnSpc>
              <a:spcBef>
                <a:spcPts val="1081"/>
              </a:spcBef>
              <a:spcAft>
                <a:spcPts val="0"/>
              </a:spcAft>
              <a:buSzPts val="2392"/>
              <a:buNone/>
            </a:pPr>
            <a:r>
              <a:t/>
            </a:r>
            <a:endParaRPr sz="2600">
              <a:solidFill>
                <a:schemeClr val="dk1"/>
              </a:solidFill>
            </a:endParaRPr>
          </a:p>
          <a:p>
            <a:pPr indent="-176307" lvl="0" marL="306000" rtl="0" algn="just">
              <a:lnSpc>
                <a:spcPct val="90000"/>
              </a:lnSpc>
              <a:spcBef>
                <a:spcPts val="1044"/>
              </a:spcBef>
              <a:spcAft>
                <a:spcPts val="0"/>
              </a:spcAft>
              <a:buSzPts val="2208"/>
              <a:buNone/>
            </a:pPr>
            <a:r>
              <a:t/>
            </a:r>
            <a:endParaRPr sz="2400">
              <a:solidFill>
                <a:schemeClr val="dk1"/>
              </a:solidFill>
            </a:endParaRPr>
          </a:p>
          <a:p>
            <a:pPr indent="-208729" lvl="0" marL="306000" rtl="0" algn="l">
              <a:lnSpc>
                <a:spcPct val="90000"/>
              </a:lnSpc>
              <a:spcBef>
                <a:spcPts val="933"/>
              </a:spcBef>
              <a:spcAft>
                <a:spcPts val="0"/>
              </a:spcAft>
              <a:buSzPts val="2024"/>
              <a:buNone/>
            </a:pPr>
            <a:r>
              <a:t/>
            </a:r>
            <a:endParaRPr/>
          </a:p>
        </p:txBody>
      </p:sp>
      <p:pic>
        <p:nvPicPr>
          <p:cNvPr id="312" name="Google Shape;312;p37"/>
          <p:cNvPicPr preferRelativeResize="0"/>
          <p:nvPr/>
        </p:nvPicPr>
        <p:blipFill rotWithShape="1">
          <a:blip r:embed="rId3">
            <a:alphaModFix/>
          </a:blip>
          <a:srcRect b="0" l="0" r="0" t="0"/>
          <a:stretch/>
        </p:blipFill>
        <p:spPr>
          <a:xfrm>
            <a:off x="7288306" y="1446664"/>
            <a:ext cx="5213043" cy="6100548"/>
          </a:xfrm>
          <a:prstGeom prst="rect">
            <a:avLst/>
          </a:prstGeom>
          <a:noFill/>
          <a:ln>
            <a:noFill/>
          </a:ln>
        </p:spPr>
      </p:pic>
      <p:pic>
        <p:nvPicPr>
          <p:cNvPr id="313" name="Google Shape;313;p37"/>
          <p:cNvPicPr preferRelativeResize="0"/>
          <p:nvPr/>
        </p:nvPicPr>
        <p:blipFill rotWithShape="1">
          <a:blip r:embed="rId4">
            <a:alphaModFix/>
          </a:blip>
          <a:srcRect b="0" l="0" r="0" t="0"/>
          <a:stretch/>
        </p:blipFill>
        <p:spPr>
          <a:xfrm>
            <a:off x="5462710" y="4471639"/>
            <a:ext cx="2053212" cy="223093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8"/>
          <p:cNvSpPr txBox="1"/>
          <p:nvPr>
            <p:ph type="title"/>
          </p:nvPr>
        </p:nvSpPr>
        <p:spPr>
          <a:xfrm>
            <a:off x="811692" y="0"/>
            <a:ext cx="9720072" cy="1499616"/>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3200"/>
              <a:buFont typeface="Gill Sans"/>
              <a:buNone/>
            </a:pPr>
            <a:r>
              <a:rPr b="1" lang="en-US" sz="4400"/>
              <a:t>BEHAVIORISM</a:t>
            </a:r>
            <a:endParaRPr b="1" sz="4400"/>
          </a:p>
        </p:txBody>
      </p:sp>
      <p:sp>
        <p:nvSpPr>
          <p:cNvPr id="319" name="Google Shape;319;p38"/>
          <p:cNvSpPr txBox="1"/>
          <p:nvPr>
            <p:ph idx="1" type="body"/>
          </p:nvPr>
        </p:nvSpPr>
        <p:spPr>
          <a:xfrm>
            <a:off x="581191" y="1499616"/>
            <a:ext cx="11228773" cy="4287035"/>
          </a:xfrm>
          <a:prstGeom prst="rect">
            <a:avLst/>
          </a:prstGeom>
          <a:noFill/>
          <a:ln>
            <a:noFill/>
          </a:ln>
        </p:spPr>
        <p:txBody>
          <a:bodyPr anchorCtr="0" anchor="ctr" bIns="45700" lIns="91425" spcFirstLastPara="1" rIns="91425" wrap="square" tIns="45700">
            <a:normAutofit fontScale="92500" lnSpcReduction="10000"/>
          </a:bodyPr>
          <a:lstStyle/>
          <a:p>
            <a:pPr indent="-305999" lvl="0" marL="306000" rtl="0" algn="just">
              <a:lnSpc>
                <a:spcPct val="90000"/>
              </a:lnSpc>
              <a:spcBef>
                <a:spcPts val="0"/>
              </a:spcBef>
              <a:spcAft>
                <a:spcPts val="0"/>
              </a:spcAft>
              <a:buSzPct val="92000"/>
              <a:buChar char="◼"/>
            </a:pPr>
            <a:r>
              <a:rPr lang="en-US" sz="2800">
                <a:solidFill>
                  <a:srgbClr val="FF0000"/>
                </a:solidFill>
              </a:rPr>
              <a:t>John B. Watson</a:t>
            </a:r>
            <a:r>
              <a:rPr lang="en-US" sz="2800">
                <a:solidFill>
                  <a:schemeClr val="dk1"/>
                </a:solidFill>
              </a:rPr>
              <a:t>, in 1913 and others ascribing to behaviorism, argued that nearly all behavior is a result of conditioning and the environment shapes behavior by reinforcing specific habits. </a:t>
            </a:r>
            <a:endParaRPr sz="2400"/>
          </a:p>
          <a:p>
            <a:pPr indent="-305999" lvl="0" marL="306000" rtl="0" algn="just">
              <a:lnSpc>
                <a:spcPct val="90000"/>
              </a:lnSpc>
              <a:spcBef>
                <a:spcPts val="1044"/>
              </a:spcBef>
              <a:spcAft>
                <a:spcPts val="0"/>
              </a:spcAft>
              <a:buSzPct val="92000"/>
              <a:buChar char="◼"/>
            </a:pPr>
            <a:r>
              <a:rPr lang="en-US" sz="2800">
                <a:solidFill>
                  <a:schemeClr val="dk1"/>
                </a:solidFill>
              </a:rPr>
              <a:t>It stated that scientists should only study observable behavior  and that consciousness should be abandoned because ultimately consciousness and perceptions are private events and cannot be objectively verified. </a:t>
            </a:r>
            <a:endParaRPr sz="2400"/>
          </a:p>
          <a:p>
            <a:pPr indent="-305999" lvl="0" marL="306000" rtl="0" algn="just">
              <a:lnSpc>
                <a:spcPct val="90000"/>
              </a:lnSpc>
              <a:spcBef>
                <a:spcPts val="1044"/>
              </a:spcBef>
              <a:spcAft>
                <a:spcPts val="0"/>
              </a:spcAft>
              <a:buSzPct val="92000"/>
              <a:buChar char="◼"/>
            </a:pPr>
            <a:r>
              <a:rPr lang="en-US" sz="2800"/>
              <a:t>This means that psychology would suffer from a lack of reliability.</a:t>
            </a:r>
            <a:endParaRPr sz="2800">
              <a:solidFill>
                <a:schemeClr val="dk1"/>
              </a:solidFill>
            </a:endParaRPr>
          </a:p>
          <a:p>
            <a:pPr indent="-305999" lvl="0" marL="306000" rtl="0" algn="just">
              <a:lnSpc>
                <a:spcPct val="90000"/>
              </a:lnSpc>
              <a:spcBef>
                <a:spcPts val="1044"/>
              </a:spcBef>
              <a:spcAft>
                <a:spcPts val="0"/>
              </a:spcAft>
              <a:buSzPct val="92000"/>
              <a:buChar char="◼"/>
            </a:pPr>
            <a:r>
              <a:rPr lang="en-US" sz="2800">
                <a:solidFill>
                  <a:schemeClr val="dk1"/>
                </a:solidFill>
              </a:rPr>
              <a:t>Top names:</a:t>
            </a:r>
            <a:endParaRPr sz="2400"/>
          </a:p>
          <a:p>
            <a:pPr indent="-305999" lvl="0" marL="306000" rtl="0" algn="just">
              <a:lnSpc>
                <a:spcPct val="90000"/>
              </a:lnSpc>
              <a:spcBef>
                <a:spcPts val="1044"/>
              </a:spcBef>
              <a:spcAft>
                <a:spcPts val="0"/>
              </a:spcAft>
              <a:buSzPct val="92000"/>
              <a:buChar char="◼"/>
            </a:pPr>
            <a:r>
              <a:rPr lang="en-US" sz="2800">
                <a:solidFill>
                  <a:schemeClr val="dk1"/>
                </a:solidFill>
              </a:rPr>
              <a:t>B.F Skinner</a:t>
            </a:r>
            <a:endParaRPr sz="2400"/>
          </a:p>
          <a:p>
            <a:pPr indent="-305999" lvl="0" marL="306000" rtl="0" algn="just">
              <a:lnSpc>
                <a:spcPct val="90000"/>
              </a:lnSpc>
              <a:spcBef>
                <a:spcPts val="1044"/>
              </a:spcBef>
              <a:spcAft>
                <a:spcPts val="0"/>
              </a:spcAft>
              <a:buSzPct val="92000"/>
              <a:buChar char="◼"/>
            </a:pPr>
            <a:r>
              <a:rPr lang="en-US" sz="2800">
                <a:solidFill>
                  <a:schemeClr val="dk1"/>
                </a:solidFill>
              </a:rPr>
              <a:t>Ivan Pavlov</a:t>
            </a:r>
            <a:endParaRPr sz="2800">
              <a:solidFill>
                <a:schemeClr val="dk1"/>
              </a:solidFill>
            </a:endParaRPr>
          </a:p>
          <a:p>
            <a:pPr indent="-208729" lvl="0" marL="306000" rtl="0" algn="l">
              <a:lnSpc>
                <a:spcPct val="90000"/>
              </a:lnSpc>
              <a:spcBef>
                <a:spcPts val="933"/>
              </a:spcBef>
              <a:spcAft>
                <a:spcPts val="0"/>
              </a:spcAft>
              <a:buSzPct val="91999"/>
              <a:buNone/>
            </a:pPr>
            <a:r>
              <a:t/>
            </a:r>
            <a:endParaRPr/>
          </a:p>
        </p:txBody>
      </p:sp>
      <p:pic>
        <p:nvPicPr>
          <p:cNvPr id="320" name="Google Shape;320;p38"/>
          <p:cNvPicPr preferRelativeResize="0"/>
          <p:nvPr/>
        </p:nvPicPr>
        <p:blipFill rotWithShape="1">
          <a:blip r:embed="rId3">
            <a:alphaModFix/>
          </a:blip>
          <a:srcRect b="12927" l="0" r="0" t="23121"/>
          <a:stretch/>
        </p:blipFill>
        <p:spPr>
          <a:xfrm>
            <a:off x="3971499" y="4248727"/>
            <a:ext cx="7838465" cy="2253673"/>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9"/>
          <p:cNvSpPr txBox="1"/>
          <p:nvPr>
            <p:ph type="title"/>
          </p:nvPr>
        </p:nvSpPr>
        <p:spPr>
          <a:xfrm>
            <a:off x="820593" y="1018914"/>
            <a:ext cx="11029616" cy="1013800"/>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b="1" lang="en-US"/>
              <a:t>HUMANISTIC PERSPECTIVE</a:t>
            </a:r>
            <a:endParaRPr/>
          </a:p>
        </p:txBody>
      </p:sp>
      <p:sp>
        <p:nvSpPr>
          <p:cNvPr id="327" name="Google Shape;327;p39"/>
          <p:cNvSpPr txBox="1"/>
          <p:nvPr>
            <p:ph idx="1" type="body"/>
          </p:nvPr>
        </p:nvSpPr>
        <p:spPr>
          <a:xfrm>
            <a:off x="460375" y="2180496"/>
            <a:ext cx="4836970" cy="3947349"/>
          </a:xfrm>
          <a:prstGeom prst="rect">
            <a:avLst/>
          </a:prstGeom>
          <a:noFill/>
          <a:ln>
            <a:noFill/>
          </a:ln>
        </p:spPr>
        <p:txBody>
          <a:bodyPr anchorCtr="0" anchor="ctr" bIns="45700" lIns="91425" spcFirstLastPara="1" rIns="91425" wrap="square" tIns="45700">
            <a:normAutofit/>
          </a:bodyPr>
          <a:lstStyle/>
          <a:p>
            <a:pPr indent="-306000" lvl="0" marL="306000" rtl="0" algn="just">
              <a:lnSpc>
                <a:spcPct val="90000"/>
              </a:lnSpc>
              <a:spcBef>
                <a:spcPts val="0"/>
              </a:spcBef>
              <a:spcAft>
                <a:spcPts val="0"/>
              </a:spcAft>
              <a:buSzPts val="2208"/>
              <a:buChar char="◼"/>
            </a:pPr>
            <a:r>
              <a:rPr lang="en-US" sz="2800">
                <a:solidFill>
                  <a:schemeClr val="dk1"/>
                </a:solidFill>
              </a:rPr>
              <a:t>Humans are capable of </a:t>
            </a:r>
            <a:r>
              <a:rPr lang="en-US" sz="2800">
                <a:solidFill>
                  <a:srgbClr val="FF0000"/>
                </a:solidFill>
              </a:rPr>
              <a:t>incredible acts of creativity, selflessness &amp; high levels of spirituality.</a:t>
            </a:r>
            <a:endParaRPr sz="2800">
              <a:solidFill>
                <a:srgbClr val="FF0000"/>
              </a:solidFill>
            </a:endParaRPr>
          </a:p>
          <a:p>
            <a:pPr indent="-306000" lvl="0" marL="306000" rtl="0" algn="just">
              <a:lnSpc>
                <a:spcPct val="90000"/>
              </a:lnSpc>
              <a:spcBef>
                <a:spcPts val="1080"/>
              </a:spcBef>
              <a:spcAft>
                <a:spcPts val="0"/>
              </a:spcAft>
              <a:buSzPts val="2208"/>
              <a:buChar char="◼"/>
            </a:pPr>
            <a:r>
              <a:rPr lang="en-US" sz="2800">
                <a:solidFill>
                  <a:schemeClr val="dk1"/>
                </a:solidFill>
              </a:rPr>
              <a:t>Free will</a:t>
            </a:r>
            <a:endParaRPr sz="2800"/>
          </a:p>
          <a:p>
            <a:pPr indent="-306000" lvl="0" marL="306000" rtl="0" algn="just">
              <a:lnSpc>
                <a:spcPct val="90000"/>
              </a:lnSpc>
              <a:spcBef>
                <a:spcPts val="1080"/>
              </a:spcBef>
              <a:spcAft>
                <a:spcPts val="0"/>
              </a:spcAft>
              <a:buSzPts val="2208"/>
              <a:buChar char="◼"/>
            </a:pPr>
            <a:r>
              <a:rPr lang="en-US" sz="2800">
                <a:solidFill>
                  <a:schemeClr val="dk1"/>
                </a:solidFill>
              </a:rPr>
              <a:t>Main figures: </a:t>
            </a:r>
            <a:endParaRPr sz="2800"/>
          </a:p>
          <a:p>
            <a:pPr indent="-306000" lvl="0" marL="306000" rtl="0" algn="just">
              <a:lnSpc>
                <a:spcPct val="90000"/>
              </a:lnSpc>
              <a:spcBef>
                <a:spcPts val="1080"/>
              </a:spcBef>
              <a:spcAft>
                <a:spcPts val="0"/>
              </a:spcAft>
              <a:buSzPts val="2208"/>
              <a:buChar char="◼"/>
            </a:pPr>
            <a:r>
              <a:rPr lang="en-US" sz="2800">
                <a:solidFill>
                  <a:schemeClr val="dk1"/>
                </a:solidFill>
              </a:rPr>
              <a:t>Carl Rogers , Abraham Maslow</a:t>
            </a:r>
            <a:endParaRPr sz="2800"/>
          </a:p>
          <a:p>
            <a:pPr indent="-200844" lvl="0" marL="306000" rtl="0" algn="l">
              <a:lnSpc>
                <a:spcPct val="90000"/>
              </a:lnSpc>
              <a:spcBef>
                <a:spcPts val="960"/>
              </a:spcBef>
              <a:spcAft>
                <a:spcPts val="0"/>
              </a:spcAft>
              <a:buSzPts val="1656"/>
              <a:buNone/>
            </a:pPr>
            <a:r>
              <a:t/>
            </a:r>
            <a:endParaRPr/>
          </a:p>
        </p:txBody>
      </p:sp>
      <p:sp>
        <p:nvSpPr>
          <p:cNvPr descr="Humanistic Theories: Carl Rogers" id="328" name="Google Shape;328;p3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pic>
        <p:nvPicPr>
          <p:cNvPr id="329" name="Google Shape;329;p39"/>
          <p:cNvPicPr preferRelativeResize="0"/>
          <p:nvPr/>
        </p:nvPicPr>
        <p:blipFill rotWithShape="1">
          <a:blip r:embed="rId3">
            <a:alphaModFix/>
          </a:blip>
          <a:srcRect b="0" l="0" r="0" t="0"/>
          <a:stretch/>
        </p:blipFill>
        <p:spPr>
          <a:xfrm>
            <a:off x="5418162" y="1901899"/>
            <a:ext cx="6547488" cy="4817951"/>
          </a:xfrm>
          <a:prstGeom prst="rect">
            <a:avLst/>
          </a:prstGeom>
          <a:noFill/>
          <a:ln>
            <a:noFill/>
          </a:ln>
        </p:spPr>
      </p:pic>
      <p:sp>
        <p:nvSpPr>
          <p:cNvPr descr="Humanistic Theory by Psychologist Carl Rogers" id="330" name="Google Shape;330;p39"/>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0"/>
          <p:cNvSpPr txBox="1"/>
          <p:nvPr>
            <p:ph type="title"/>
          </p:nvPr>
        </p:nvSpPr>
        <p:spPr>
          <a:xfrm>
            <a:off x="827254" y="981452"/>
            <a:ext cx="11029616" cy="1013800"/>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b="1" lang="en-US"/>
              <a:t>COGNITIVE PERSPECTIVE</a:t>
            </a:r>
            <a:endParaRPr b="1"/>
          </a:p>
        </p:txBody>
      </p:sp>
      <p:sp>
        <p:nvSpPr>
          <p:cNvPr id="336" name="Google Shape;336;p40"/>
          <p:cNvSpPr txBox="1"/>
          <p:nvPr>
            <p:ph idx="1" type="body"/>
          </p:nvPr>
        </p:nvSpPr>
        <p:spPr>
          <a:xfrm>
            <a:off x="724067" y="2314576"/>
            <a:ext cx="5617995" cy="4200342"/>
          </a:xfrm>
          <a:prstGeom prst="rect">
            <a:avLst/>
          </a:prstGeom>
          <a:noFill/>
          <a:ln>
            <a:noFill/>
          </a:ln>
        </p:spPr>
        <p:txBody>
          <a:bodyPr anchorCtr="0" anchor="ctr" bIns="45700" lIns="91425" spcFirstLastPara="1" rIns="91425" wrap="square" tIns="45700">
            <a:normAutofit/>
          </a:bodyPr>
          <a:lstStyle/>
          <a:p>
            <a:pPr indent="-306000" lvl="0" marL="306000" rtl="0" algn="just">
              <a:lnSpc>
                <a:spcPct val="90000"/>
              </a:lnSpc>
              <a:spcBef>
                <a:spcPts val="0"/>
              </a:spcBef>
              <a:spcAft>
                <a:spcPts val="0"/>
              </a:spcAft>
              <a:buSzPts val="2208"/>
              <a:buChar char="◼"/>
            </a:pPr>
            <a:r>
              <a:rPr lang="en-US" sz="2800">
                <a:solidFill>
                  <a:schemeClr val="dk1"/>
                </a:solidFill>
              </a:rPr>
              <a:t>Focus on Mental processes </a:t>
            </a:r>
            <a:endParaRPr sz="2800">
              <a:solidFill>
                <a:schemeClr val="dk1"/>
              </a:solidFill>
            </a:endParaRPr>
          </a:p>
          <a:p>
            <a:pPr indent="-306000" lvl="0" marL="306000" rtl="0" algn="just">
              <a:lnSpc>
                <a:spcPct val="90000"/>
              </a:lnSpc>
              <a:spcBef>
                <a:spcPts val="1080"/>
              </a:spcBef>
              <a:spcAft>
                <a:spcPts val="0"/>
              </a:spcAft>
              <a:buSzPts val="2208"/>
              <a:buChar char="◼"/>
            </a:pPr>
            <a:r>
              <a:rPr lang="en-US" sz="2800">
                <a:solidFill>
                  <a:schemeClr val="dk1"/>
                </a:solidFill>
              </a:rPr>
              <a:t>Perceiving, remembering, reasoning, deciding, and problem solving</a:t>
            </a:r>
            <a:endParaRPr sz="2800">
              <a:solidFill>
                <a:schemeClr val="dk1"/>
              </a:solidFill>
            </a:endParaRPr>
          </a:p>
          <a:p>
            <a:pPr indent="-306000" lvl="0" marL="306000" rtl="0" algn="just">
              <a:lnSpc>
                <a:spcPct val="90000"/>
              </a:lnSpc>
              <a:spcBef>
                <a:spcPts val="1080"/>
              </a:spcBef>
              <a:spcAft>
                <a:spcPts val="0"/>
              </a:spcAft>
              <a:buSzPts val="2208"/>
              <a:buChar char="◼"/>
            </a:pPr>
            <a:r>
              <a:rPr lang="en-US" sz="2800">
                <a:solidFill>
                  <a:schemeClr val="dk1"/>
                </a:solidFill>
              </a:rPr>
              <a:t>Only by studying mental processes can we fully understand what organisms do.</a:t>
            </a:r>
            <a:endParaRPr sz="2800">
              <a:solidFill>
                <a:schemeClr val="dk1"/>
              </a:solidFill>
            </a:endParaRPr>
          </a:p>
        </p:txBody>
      </p:sp>
      <p:pic>
        <p:nvPicPr>
          <p:cNvPr descr="Examples of Cognitive Psychology and How It&amp;#39;s Used" id="337" name="Google Shape;337;p40"/>
          <p:cNvPicPr preferRelativeResize="0"/>
          <p:nvPr/>
        </p:nvPicPr>
        <p:blipFill rotWithShape="1">
          <a:blip r:embed="rId3">
            <a:alphaModFix/>
          </a:blip>
          <a:srcRect b="0" l="0" r="0" t="0"/>
          <a:stretch/>
        </p:blipFill>
        <p:spPr>
          <a:xfrm>
            <a:off x="6605516" y="2179979"/>
            <a:ext cx="4964349" cy="3759780"/>
          </a:xfrm>
          <a:prstGeom prst="roundRect">
            <a:avLst>
              <a:gd fmla="val 16667" name="adj"/>
            </a:avLst>
          </a:prstGeom>
          <a:noFill/>
          <a:ln>
            <a:noFill/>
          </a:ln>
          <a:effectLst>
            <a:outerShdw blurRad="76200" rotWithShape="0" algn="tl" dir="7800000" dist="38100">
              <a:srgbClr val="000000">
                <a:alpha val="40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1"/>
          <p:cNvSpPr txBox="1"/>
          <p:nvPr>
            <p:ph type="title"/>
          </p:nvPr>
        </p:nvSpPr>
        <p:spPr>
          <a:xfrm>
            <a:off x="876012" y="1085879"/>
            <a:ext cx="11029616" cy="1013800"/>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b="1" lang="en-US"/>
              <a:t>SOCIO-CULTURAL PERSPECTIVE</a:t>
            </a:r>
            <a:endParaRPr b="1"/>
          </a:p>
        </p:txBody>
      </p:sp>
      <p:sp>
        <p:nvSpPr>
          <p:cNvPr id="344" name="Google Shape;344;p41"/>
          <p:cNvSpPr txBox="1"/>
          <p:nvPr>
            <p:ph idx="1" type="body"/>
          </p:nvPr>
        </p:nvSpPr>
        <p:spPr>
          <a:xfrm>
            <a:off x="307975" y="2099679"/>
            <a:ext cx="6666030" cy="4368854"/>
          </a:xfrm>
          <a:prstGeom prst="rect">
            <a:avLst/>
          </a:prstGeom>
          <a:noFill/>
          <a:ln>
            <a:noFill/>
          </a:ln>
        </p:spPr>
        <p:txBody>
          <a:bodyPr anchorCtr="0" anchor="ctr" bIns="45700" lIns="91425" spcFirstLastPara="1" rIns="91425" wrap="square" tIns="45700">
            <a:noAutofit/>
          </a:bodyPr>
          <a:lstStyle/>
          <a:p>
            <a:pPr indent="-306000" lvl="0" marL="306000" rtl="0" algn="just">
              <a:lnSpc>
                <a:spcPct val="90000"/>
              </a:lnSpc>
              <a:spcBef>
                <a:spcPts val="0"/>
              </a:spcBef>
              <a:spcAft>
                <a:spcPts val="0"/>
              </a:spcAft>
              <a:buSzPts val="1840"/>
              <a:buChar char="◼"/>
            </a:pPr>
            <a:r>
              <a:rPr lang="en-US" sz="2400">
                <a:solidFill>
                  <a:schemeClr val="dk1"/>
                </a:solidFill>
              </a:rPr>
              <a:t>Sociocultural theory is an emerging theory in Psychology that looks at the important contributions that society makes to individual development.</a:t>
            </a:r>
            <a:endParaRPr sz="2400"/>
          </a:p>
          <a:p>
            <a:pPr indent="-306000" lvl="0" marL="306000" rtl="0" algn="just">
              <a:lnSpc>
                <a:spcPct val="90000"/>
              </a:lnSpc>
              <a:spcBef>
                <a:spcPts val="1000"/>
              </a:spcBef>
              <a:spcAft>
                <a:spcPts val="0"/>
              </a:spcAft>
              <a:buSzPts val="1840"/>
              <a:buChar char="◼"/>
            </a:pPr>
            <a:r>
              <a:rPr lang="en-US" sz="2400">
                <a:solidFill>
                  <a:schemeClr val="dk1"/>
                </a:solidFill>
              </a:rPr>
              <a:t>Sociocultural theory focuses not only how adults and peers influence individual learning, but also on how and attitudes affect how learning takes place. </a:t>
            </a:r>
            <a:r>
              <a:rPr lang="en-US" sz="2400">
                <a:solidFill>
                  <a:srgbClr val="FF0000"/>
                </a:solidFill>
              </a:rPr>
              <a:t>cultural beliefs </a:t>
            </a:r>
            <a:endParaRPr sz="2400">
              <a:solidFill>
                <a:srgbClr val="FF0000"/>
              </a:solidFill>
            </a:endParaRPr>
          </a:p>
        </p:txBody>
      </p:sp>
      <p:sp>
        <p:nvSpPr>
          <p:cNvPr descr="Sociocultural theory of development" id="345" name="Google Shape;345;p4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descr="https://www.verywellmind.com/thmb/Z8EcVidpj0_lLR3dVNXyXTmbVX4=/614x0/filters:no_upscale():max_bytes(150000):strip_icc():format(webp)/what-is-sociocultural-theory-2795088-5c018ff246e0fb0001958ce9.png" id="346" name="Google Shape;346;p41"/>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pic>
        <p:nvPicPr>
          <p:cNvPr descr="नेपाली) Lev Vygotsky - Socio-Cultural Perspective || ReadingisBest Nepali  || Psychology in Nepali - YouTube" id="347" name="Google Shape;347;p41"/>
          <p:cNvPicPr preferRelativeResize="0"/>
          <p:nvPr/>
        </p:nvPicPr>
        <p:blipFill rotWithShape="1">
          <a:blip r:embed="rId3">
            <a:alphaModFix/>
          </a:blip>
          <a:srcRect b="0" l="0" r="0" t="0"/>
          <a:stretch/>
        </p:blipFill>
        <p:spPr>
          <a:xfrm>
            <a:off x="6974005" y="1896533"/>
            <a:ext cx="4997862" cy="4961467"/>
          </a:xfrm>
          <a:prstGeom prst="rect">
            <a:avLst/>
          </a:prstGeom>
          <a:noFill/>
          <a:ln>
            <a:noFill/>
          </a:ln>
        </p:spPr>
      </p:pic>
      <p:sp>
        <p:nvSpPr>
          <p:cNvPr descr="https://www.verywellmind.com/thmb/Z8EcVidpj0_lLR3dVNXyXTmbVX4=/614x0/filters:no_upscale():max_bytes(150000):strip_icc():format(webp)/what-is-sociocultural-theory-2795088-5c018ff246e0fb0001958ce9.png" id="348" name="Google Shape;348;p41"/>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2"/>
          <p:cNvSpPr txBox="1"/>
          <p:nvPr>
            <p:ph idx="1" type="body"/>
          </p:nvPr>
        </p:nvSpPr>
        <p:spPr>
          <a:xfrm>
            <a:off x="1024128" y="802640"/>
            <a:ext cx="9720073" cy="5506720"/>
          </a:xfrm>
          <a:prstGeom prst="rect">
            <a:avLst/>
          </a:prstGeom>
          <a:noFill/>
          <a:ln>
            <a:noFill/>
          </a:ln>
        </p:spPr>
        <p:txBody>
          <a:bodyPr anchorCtr="0" anchor="t" bIns="45700" lIns="45700" spcFirstLastPara="1" rIns="45700" wrap="square" tIns="45700">
            <a:normAutofit/>
          </a:bodyPr>
          <a:lstStyle/>
          <a:p>
            <a:pPr indent="-306000" lvl="0" marL="306000" rtl="0" algn="just">
              <a:lnSpc>
                <a:spcPct val="90000"/>
              </a:lnSpc>
              <a:spcBef>
                <a:spcPts val="0"/>
              </a:spcBef>
              <a:spcAft>
                <a:spcPts val="0"/>
              </a:spcAft>
              <a:buSzPts val="1840"/>
              <a:buChar char="◼"/>
            </a:pPr>
            <a:r>
              <a:rPr lang="en-US" sz="2800">
                <a:solidFill>
                  <a:schemeClr val="dk1"/>
                </a:solidFill>
              </a:rPr>
              <a:t>This theory stresses the interaction between developing people and the culture in which they live. </a:t>
            </a:r>
            <a:endParaRPr sz="2800"/>
          </a:p>
          <a:p>
            <a:pPr indent="-306000" lvl="0" marL="306000" rtl="0" algn="just">
              <a:lnSpc>
                <a:spcPct val="90000"/>
              </a:lnSpc>
              <a:spcBef>
                <a:spcPts val="1000"/>
              </a:spcBef>
              <a:spcAft>
                <a:spcPts val="0"/>
              </a:spcAft>
              <a:buSzPts val="1840"/>
              <a:buChar char="◼"/>
            </a:pPr>
            <a:r>
              <a:rPr lang="en-US" sz="2800">
                <a:solidFill>
                  <a:schemeClr val="dk1"/>
                </a:solidFill>
              </a:rPr>
              <a:t>Sociocultural theory also suggests that human learning is largely a social process.</a:t>
            </a:r>
            <a:endParaRPr/>
          </a:p>
          <a:p>
            <a:pPr indent="0" lvl="0" marL="0" rtl="0" algn="ctr">
              <a:lnSpc>
                <a:spcPct val="90000"/>
              </a:lnSpc>
              <a:spcBef>
                <a:spcPts val="1200"/>
              </a:spcBef>
              <a:spcAft>
                <a:spcPts val="0"/>
              </a:spcAft>
              <a:buSzPts val="2800"/>
              <a:buNone/>
            </a:pPr>
            <a:r>
              <a:rPr b="1" lang="en-US" sz="2800">
                <a:solidFill>
                  <a:srgbClr val="C00000"/>
                </a:solidFill>
              </a:rPr>
              <a:t>EXAMPLES</a:t>
            </a:r>
            <a:endParaRPr sz="2800"/>
          </a:p>
          <a:p>
            <a:pPr indent="-177800" lvl="0" marL="91440" rtl="0" algn="just">
              <a:lnSpc>
                <a:spcPct val="90000"/>
              </a:lnSpc>
              <a:spcBef>
                <a:spcPts val="1400"/>
              </a:spcBef>
              <a:spcAft>
                <a:spcPts val="0"/>
              </a:spcAft>
              <a:buSzPts val="2800"/>
              <a:buFont typeface="Noto Sans Symbols"/>
              <a:buChar char="▪"/>
            </a:pPr>
            <a:r>
              <a:rPr lang="en-US" sz="2800"/>
              <a:t>Investigating how cultural factors influence psychological phenomena, such as emotional expression, cognitive processes, and social behaviors.</a:t>
            </a:r>
            <a:endParaRPr/>
          </a:p>
          <a:p>
            <a:pPr indent="-177800" lvl="0" marL="91440" rtl="0" algn="just">
              <a:lnSpc>
                <a:spcPct val="90000"/>
              </a:lnSpc>
              <a:spcBef>
                <a:spcPts val="1400"/>
              </a:spcBef>
              <a:spcAft>
                <a:spcPts val="0"/>
              </a:spcAft>
              <a:buSzPts val="2800"/>
              <a:buFont typeface="Noto Sans Symbols"/>
              <a:buChar char="▪"/>
            </a:pPr>
            <a:r>
              <a:rPr lang="en-US" sz="2800"/>
              <a:t>Studying how individuals adapt to new cultural environments and the impact of this process on their psychological well-being.</a:t>
            </a:r>
            <a:endParaRPr/>
          </a:p>
          <a:p>
            <a:pPr indent="0" lvl="0" marL="91440" rtl="0" algn="just">
              <a:lnSpc>
                <a:spcPct val="90000"/>
              </a:lnSpc>
              <a:spcBef>
                <a:spcPts val="1400"/>
              </a:spcBef>
              <a:spcAft>
                <a:spcPts val="0"/>
              </a:spcAft>
              <a:buSzPts val="2800"/>
              <a:buNone/>
            </a:pPr>
            <a:r>
              <a:t/>
            </a:r>
            <a:endParaRPr b="1" sz="2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3"/>
          <p:cNvSpPr txBox="1"/>
          <p:nvPr>
            <p:ph type="title"/>
          </p:nvPr>
        </p:nvSpPr>
        <p:spPr>
          <a:xfrm>
            <a:off x="804711" y="456609"/>
            <a:ext cx="11029616" cy="1013800"/>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Gill Sans"/>
              <a:buNone/>
            </a:pPr>
            <a:r>
              <a:rPr b="1" lang="en-US"/>
              <a:t>ECLECTIC APPROACH </a:t>
            </a:r>
            <a:endParaRPr b="1"/>
          </a:p>
        </p:txBody>
      </p:sp>
      <p:sp>
        <p:nvSpPr>
          <p:cNvPr id="360" name="Google Shape;360;p43"/>
          <p:cNvSpPr txBox="1"/>
          <p:nvPr>
            <p:ph idx="1" type="body"/>
          </p:nvPr>
        </p:nvSpPr>
        <p:spPr>
          <a:xfrm>
            <a:off x="6420195" y="1754063"/>
            <a:ext cx="5514807" cy="4261247"/>
          </a:xfrm>
          <a:prstGeom prst="rect">
            <a:avLst/>
          </a:prstGeom>
          <a:noFill/>
          <a:ln>
            <a:noFill/>
          </a:ln>
        </p:spPr>
        <p:txBody>
          <a:bodyPr anchorCtr="0" anchor="ctr" bIns="45700" lIns="91425" spcFirstLastPara="1" rIns="91425" wrap="square" tIns="45700">
            <a:normAutofit fontScale="92500" lnSpcReduction="20000"/>
          </a:bodyPr>
          <a:lstStyle/>
          <a:p>
            <a:pPr indent="-306000" lvl="0" marL="306000" rtl="0" algn="just">
              <a:lnSpc>
                <a:spcPct val="150000"/>
              </a:lnSpc>
              <a:spcBef>
                <a:spcPts val="0"/>
              </a:spcBef>
              <a:spcAft>
                <a:spcPts val="0"/>
              </a:spcAft>
              <a:buSzPct val="71042"/>
              <a:buChar char="◼"/>
            </a:pPr>
            <a:r>
              <a:rPr lang="en-US" sz="2800"/>
              <a:t>Multi-modal or integrative therapy</a:t>
            </a:r>
            <a:endParaRPr/>
          </a:p>
          <a:p>
            <a:pPr indent="-306000" lvl="0" marL="306000" rtl="0" algn="just">
              <a:lnSpc>
                <a:spcPct val="150000"/>
              </a:lnSpc>
              <a:spcBef>
                <a:spcPts val="0"/>
              </a:spcBef>
              <a:spcAft>
                <a:spcPts val="0"/>
              </a:spcAft>
              <a:buSzPct val="71042"/>
              <a:buChar char="◼"/>
            </a:pPr>
            <a:r>
              <a:rPr lang="en-US" sz="2800"/>
              <a:t>Integration of Theories and Techniques</a:t>
            </a:r>
            <a:endParaRPr/>
          </a:p>
          <a:p>
            <a:pPr indent="-306000" lvl="0" marL="306000" rtl="0" algn="just">
              <a:lnSpc>
                <a:spcPct val="150000"/>
              </a:lnSpc>
              <a:spcBef>
                <a:spcPts val="0"/>
              </a:spcBef>
              <a:spcAft>
                <a:spcPts val="0"/>
              </a:spcAft>
              <a:buSzPct val="71042"/>
              <a:buChar char="◼"/>
            </a:pPr>
            <a:r>
              <a:rPr lang="en-US" sz="2800"/>
              <a:t>Flexibility in Methods</a:t>
            </a:r>
            <a:endParaRPr/>
          </a:p>
          <a:p>
            <a:pPr indent="-306000" lvl="0" marL="306000" rtl="0" algn="just">
              <a:lnSpc>
                <a:spcPct val="150000"/>
              </a:lnSpc>
              <a:spcBef>
                <a:spcPts val="0"/>
              </a:spcBef>
              <a:spcAft>
                <a:spcPts val="0"/>
              </a:spcAft>
              <a:buSzPct val="71042"/>
              <a:buChar char="◼"/>
            </a:pPr>
            <a:r>
              <a:rPr lang="en-US" sz="2800"/>
              <a:t>Customization to Client Needs</a:t>
            </a:r>
            <a:endParaRPr sz="2800">
              <a:solidFill>
                <a:schemeClr val="dk1"/>
              </a:solidFill>
            </a:endParaRPr>
          </a:p>
          <a:p>
            <a:pPr indent="-306000" lvl="0" marL="306000" rtl="0" algn="just">
              <a:lnSpc>
                <a:spcPct val="150000"/>
              </a:lnSpc>
              <a:spcBef>
                <a:spcPts val="0"/>
              </a:spcBef>
              <a:spcAft>
                <a:spcPts val="0"/>
              </a:spcAft>
              <a:buSzPct val="71042"/>
              <a:buChar char="◼"/>
            </a:pPr>
            <a:r>
              <a:rPr lang="en-US" sz="2800">
                <a:solidFill>
                  <a:schemeClr val="dk1"/>
                </a:solidFill>
              </a:rPr>
              <a:t>Selecting and adopting information from many different sources rather than relying on one perspective.</a:t>
            </a:r>
            <a:endParaRPr sz="2800"/>
          </a:p>
          <a:p>
            <a:pPr indent="-200844" lvl="0" marL="306000" rtl="0" algn="l">
              <a:lnSpc>
                <a:spcPct val="90000"/>
              </a:lnSpc>
              <a:spcBef>
                <a:spcPts val="960"/>
              </a:spcBef>
              <a:spcAft>
                <a:spcPts val="0"/>
              </a:spcAft>
              <a:buSzPct val="81375"/>
              <a:buNone/>
            </a:pPr>
            <a:r>
              <a:t/>
            </a:r>
            <a:endParaRPr/>
          </a:p>
        </p:txBody>
      </p:sp>
      <p:pic>
        <p:nvPicPr>
          <p:cNvPr descr="Eclectic Therapy: Everything About This Therapy Approach" id="361" name="Google Shape;361;p43"/>
          <p:cNvPicPr preferRelativeResize="0"/>
          <p:nvPr/>
        </p:nvPicPr>
        <p:blipFill rotWithShape="1">
          <a:blip r:embed="rId3">
            <a:alphaModFix/>
          </a:blip>
          <a:srcRect b="0" l="0" r="0" t="0"/>
          <a:stretch/>
        </p:blipFill>
        <p:spPr>
          <a:xfrm>
            <a:off x="477520" y="1598776"/>
            <a:ext cx="5841999" cy="503071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id="366" name="Google Shape;366;p44"/>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ntegral">
  <a:themeElements>
    <a:clrScheme name="Orange Red">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coreProperties>
</file>