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6"/>
  </p:notesMasterIdLst>
  <p:sldIdLst>
    <p:sldId id="256" r:id="rId2"/>
    <p:sldId id="257" r:id="rId3"/>
    <p:sldId id="259" r:id="rId4"/>
    <p:sldId id="261" r:id="rId5"/>
    <p:sldId id="266" r:id="rId6"/>
    <p:sldId id="268" r:id="rId7"/>
    <p:sldId id="280" r:id="rId8"/>
    <p:sldId id="269" r:id="rId9"/>
    <p:sldId id="270" r:id="rId10"/>
    <p:sldId id="267" r:id="rId11"/>
    <p:sldId id="264" r:id="rId12"/>
    <p:sldId id="265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883" autoAdjust="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14BCD-ADFF-47F8-B2B9-48B4307AE407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C3FE8C-6A9B-4D4B-AA93-72C6822F6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1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FE3FC12-B1BC-495F-AA9C-2604E72FBC6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DB55-4885-480E-A9B5-582FD24B5AE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39804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FC12-B1BC-495F-AA9C-2604E72FBC6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DB55-4885-480E-A9B5-582FD24B5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69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FC12-B1BC-495F-AA9C-2604E72FBC6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DB55-4885-480E-A9B5-582FD24B5AE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77905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FC12-B1BC-495F-AA9C-2604E72FBC6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DB55-4885-480E-A9B5-582FD24B5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86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FC12-B1BC-495F-AA9C-2604E72FBC6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DB55-4885-480E-A9B5-582FD24B5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3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FC12-B1BC-495F-AA9C-2604E72FBC6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DB55-4885-480E-A9B5-582FD24B5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3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FC12-B1BC-495F-AA9C-2604E72FBC6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DB55-4885-480E-A9B5-582FD24B5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64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FC12-B1BC-495F-AA9C-2604E72FBC6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DB55-4885-480E-A9B5-582FD24B5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672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FC12-B1BC-495F-AA9C-2604E72FBC6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DB55-4885-480E-A9B5-582FD24B5AE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155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FC12-B1BC-495F-AA9C-2604E72FBC6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DB55-4885-480E-A9B5-582FD24B5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37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FC12-B1BC-495F-AA9C-2604E72FBC6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DB55-4885-480E-A9B5-582FD24B5AE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2171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FE3FC12-B1BC-495F-AA9C-2604E72FBC6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28EDB55-4885-480E-A9B5-582FD24B5AE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6914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6000" b="3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RESEARCH METHODOLOGY IN Psychology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lvl="0">
              <a:spcAft>
                <a:spcPts val="0"/>
              </a:spcAft>
            </a:pPr>
            <a:r>
              <a:rPr lang="en-US" sz="1700" dirty="0">
                <a:solidFill>
                  <a:schemeClr val="bg1"/>
                </a:solidFill>
                <a:latin typeface="Gill Sans"/>
                <a:sym typeface="Gill Sans"/>
              </a:rPr>
              <a:t>BY: AQSA FAYYAZ </a:t>
            </a:r>
            <a:endParaRPr lang="en-US" sz="1700" dirty="0">
              <a:solidFill>
                <a:schemeClr val="bg1"/>
              </a:solidFill>
              <a:latin typeface="Gill Sans"/>
            </a:endParaRPr>
          </a:p>
          <a:p>
            <a:pPr lvl="0" algn="just">
              <a:spcAft>
                <a:spcPts val="0"/>
              </a:spcAft>
            </a:pPr>
            <a:r>
              <a:rPr lang="en-US" sz="1700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Lecturer </a:t>
            </a:r>
          </a:p>
          <a:p>
            <a:pPr lvl="0" algn="just"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(Science and Humanities)</a:t>
            </a:r>
          </a:p>
          <a:p>
            <a:pPr lvl="0" algn="just"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  <a:latin typeface="Gill Sans"/>
                <a:ea typeface="Gill Sans"/>
                <a:cs typeface="Gill Sans"/>
                <a:sym typeface="Gill Sans"/>
              </a:rPr>
              <a:t>FAST - National University of Computer &amp; Emerging Sciences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014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LEARNING OUTCOMES</a:t>
            </a:r>
            <a:endParaRPr lang="en-US" dirty="0"/>
          </a:p>
        </p:txBody>
      </p:sp>
      <p:grpSp>
        <p:nvGrpSpPr>
          <p:cNvPr id="4" name="Google Shape;108;p14"/>
          <p:cNvGrpSpPr/>
          <p:nvPr/>
        </p:nvGrpSpPr>
        <p:grpSpPr>
          <a:xfrm>
            <a:off x="665677" y="1974120"/>
            <a:ext cx="11029950" cy="4445534"/>
            <a:chOff x="0" y="4760"/>
            <a:chExt cx="11029950" cy="3488711"/>
          </a:xfrm>
        </p:grpSpPr>
        <p:sp>
          <p:nvSpPr>
            <p:cNvPr id="5" name="Google Shape;109;p14"/>
            <p:cNvSpPr/>
            <p:nvPr/>
          </p:nvSpPr>
          <p:spPr>
            <a:xfrm>
              <a:off x="0" y="393871"/>
              <a:ext cx="11029950" cy="378000"/>
            </a:xfrm>
            <a:prstGeom prst="rect">
              <a:avLst/>
            </a:prstGeom>
            <a:solidFill>
              <a:schemeClr val="lt2">
                <a:alpha val="89803"/>
              </a:schemeClr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8100" dist="25400" dir="5400000" rotWithShape="0">
                <a:srgbClr val="000000">
                  <a:alpha val="5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10;p14"/>
            <p:cNvSpPr/>
            <p:nvPr/>
          </p:nvSpPr>
          <p:spPr>
            <a:xfrm>
              <a:off x="551497" y="4760"/>
              <a:ext cx="7720965" cy="61051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4F4F4F"/>
                </a:gs>
                <a:gs pos="84000">
                  <a:srgbClr val="333333"/>
                </a:gs>
                <a:gs pos="100000">
                  <a:srgbClr val="333333"/>
                </a:gs>
              </a:gsLst>
              <a:lin ang="5400000" scaled="0"/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5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11;p14"/>
            <p:cNvSpPr txBox="1"/>
            <p:nvPr/>
          </p:nvSpPr>
          <p:spPr>
            <a:xfrm>
              <a:off x="581300" y="110362"/>
              <a:ext cx="7661359" cy="4751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91825" tIns="0" rIns="2918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What are scientific process?</a:t>
              </a:r>
              <a:endParaRPr sz="20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" name="Google Shape;112;p14"/>
            <p:cNvSpPr/>
            <p:nvPr/>
          </p:nvSpPr>
          <p:spPr>
            <a:xfrm>
              <a:off x="0" y="1074271"/>
              <a:ext cx="11029950" cy="378000"/>
            </a:xfrm>
            <a:prstGeom prst="rect">
              <a:avLst/>
            </a:prstGeom>
            <a:solidFill>
              <a:schemeClr val="lt2">
                <a:alpha val="89803"/>
              </a:schemeClr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8100" dist="25400" dir="5400000" rotWithShape="0">
                <a:srgbClr val="000000">
                  <a:alpha val="5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3;p14"/>
            <p:cNvSpPr/>
            <p:nvPr/>
          </p:nvSpPr>
          <p:spPr>
            <a:xfrm>
              <a:off x="551497" y="852871"/>
              <a:ext cx="7720965" cy="442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4F4F4F"/>
                </a:gs>
                <a:gs pos="84000">
                  <a:srgbClr val="333333"/>
                </a:gs>
                <a:gs pos="100000">
                  <a:srgbClr val="333333"/>
                </a:gs>
              </a:gsLst>
              <a:lin ang="5400000" scaled="0"/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5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4;p14"/>
            <p:cNvSpPr txBox="1"/>
            <p:nvPr/>
          </p:nvSpPr>
          <p:spPr>
            <a:xfrm>
              <a:off x="573113" y="874487"/>
              <a:ext cx="76777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91825" tIns="0" rIns="2918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lt1"/>
                  </a:solidFill>
                  <a:latin typeface="Gill Sans"/>
                  <a:ea typeface="Times New Roman"/>
                  <a:cs typeface="Times New Roman"/>
                  <a:sym typeface="Gill Sans"/>
                </a:rPr>
                <a:t>Types of researches</a:t>
              </a:r>
              <a:endParaRPr sz="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" name="Google Shape;115;p14"/>
            <p:cNvSpPr/>
            <p:nvPr/>
          </p:nvSpPr>
          <p:spPr>
            <a:xfrm>
              <a:off x="0" y="1754671"/>
              <a:ext cx="11029950" cy="378000"/>
            </a:xfrm>
            <a:prstGeom prst="rect">
              <a:avLst/>
            </a:prstGeom>
            <a:solidFill>
              <a:schemeClr val="lt2">
                <a:alpha val="89803"/>
              </a:schemeClr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8100" dist="25400" dir="5400000" rotWithShape="0">
                <a:srgbClr val="000000">
                  <a:alpha val="5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6;p14"/>
            <p:cNvSpPr/>
            <p:nvPr/>
          </p:nvSpPr>
          <p:spPr>
            <a:xfrm>
              <a:off x="551497" y="1533271"/>
              <a:ext cx="7720965" cy="442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4F4F4F"/>
                </a:gs>
                <a:gs pos="84000">
                  <a:srgbClr val="333333"/>
                </a:gs>
                <a:gs pos="100000">
                  <a:srgbClr val="333333"/>
                </a:gs>
              </a:gsLst>
              <a:lin ang="5400000" scaled="0"/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5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7;p14"/>
            <p:cNvSpPr txBox="1"/>
            <p:nvPr/>
          </p:nvSpPr>
          <p:spPr>
            <a:xfrm>
              <a:off x="573113" y="1554887"/>
              <a:ext cx="76777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91825" tIns="0" rIns="2918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Variables</a:t>
              </a:r>
              <a:r>
                <a:rPr lang="en-US" sz="1800" dirty="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 </a:t>
              </a:r>
              <a:endParaRPr sz="1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" name="Google Shape;118;p14"/>
            <p:cNvSpPr/>
            <p:nvPr/>
          </p:nvSpPr>
          <p:spPr>
            <a:xfrm>
              <a:off x="0" y="2416179"/>
              <a:ext cx="11029950" cy="378000"/>
            </a:xfrm>
            <a:prstGeom prst="rect">
              <a:avLst/>
            </a:prstGeom>
            <a:solidFill>
              <a:schemeClr val="lt2">
                <a:alpha val="89803"/>
              </a:schemeClr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8100" dist="25400" dir="5400000" rotWithShape="0">
                <a:srgbClr val="000000">
                  <a:alpha val="5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9;p14"/>
            <p:cNvSpPr/>
            <p:nvPr/>
          </p:nvSpPr>
          <p:spPr>
            <a:xfrm>
              <a:off x="551497" y="2213671"/>
              <a:ext cx="7720965" cy="442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4F4F4F"/>
                </a:gs>
                <a:gs pos="84000">
                  <a:srgbClr val="333333"/>
                </a:gs>
                <a:gs pos="100000">
                  <a:srgbClr val="333333"/>
                </a:gs>
              </a:gsLst>
              <a:lin ang="5400000" scaled="0"/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5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0;p14"/>
            <p:cNvSpPr txBox="1"/>
            <p:nvPr/>
          </p:nvSpPr>
          <p:spPr>
            <a:xfrm>
              <a:off x="573113" y="2235287"/>
              <a:ext cx="76777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91825" tIns="0" rIns="2918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Research Methods </a:t>
              </a:r>
              <a:endParaRPr sz="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" name="Google Shape;121;p14"/>
            <p:cNvSpPr/>
            <p:nvPr/>
          </p:nvSpPr>
          <p:spPr>
            <a:xfrm>
              <a:off x="0" y="3115471"/>
              <a:ext cx="11029950" cy="378000"/>
            </a:xfrm>
            <a:prstGeom prst="rect">
              <a:avLst/>
            </a:prstGeom>
            <a:solidFill>
              <a:schemeClr val="lt2">
                <a:alpha val="89803"/>
              </a:schemeClr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8100" dist="25400" dir="5400000" rotWithShape="0">
                <a:srgbClr val="000000">
                  <a:alpha val="5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22;p14"/>
            <p:cNvSpPr/>
            <p:nvPr/>
          </p:nvSpPr>
          <p:spPr>
            <a:xfrm>
              <a:off x="551497" y="2894071"/>
              <a:ext cx="7720965" cy="442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4F4F4F"/>
                </a:gs>
                <a:gs pos="84000">
                  <a:srgbClr val="333333"/>
                </a:gs>
                <a:gs pos="100000">
                  <a:srgbClr val="333333"/>
                </a:gs>
              </a:gsLst>
              <a:lin ang="5400000" scaled="0"/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5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3;p14"/>
            <p:cNvSpPr txBox="1"/>
            <p:nvPr/>
          </p:nvSpPr>
          <p:spPr>
            <a:xfrm>
              <a:off x="573113" y="2915687"/>
              <a:ext cx="76777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91825" tIns="0" rIns="2918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Ethical Considerations in Research &amp; applications of research </a:t>
              </a: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6248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research?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10273792" cy="3549192"/>
          </a:xfrm>
        </p:spPr>
        <p:txBody>
          <a:bodyPr>
            <a:norm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200" b="1" dirty="0">
                <a:solidFill>
                  <a:srgbClr val="FFC000"/>
                </a:solidFill>
              </a:rPr>
              <a:t>Systematic Inquiry:</a:t>
            </a:r>
            <a:r>
              <a:rPr lang="en-US" altLang="en-US" sz="3200" dirty="0">
                <a:solidFill>
                  <a:srgbClr val="FFC000"/>
                </a:solidFill>
              </a:rPr>
              <a:t> </a:t>
            </a:r>
            <a:r>
              <a:rPr lang="en-US" altLang="en-US" sz="3200" dirty="0"/>
              <a:t>Research follows a structured approach to collect and analyze information.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200" b="1" dirty="0">
                <a:solidFill>
                  <a:srgbClr val="FFC000"/>
                </a:solidFill>
              </a:rPr>
              <a:t>Knowledge Expansion:</a:t>
            </a:r>
            <a:r>
              <a:rPr lang="en-US" altLang="en-US" sz="3200" dirty="0">
                <a:solidFill>
                  <a:srgbClr val="FFC000"/>
                </a:solidFill>
              </a:rPr>
              <a:t> </a:t>
            </a:r>
            <a:r>
              <a:rPr lang="en-US" altLang="en-US" sz="3200" dirty="0"/>
              <a:t>It seeks to generate new insights, confirm existing theories, or explore different areas.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200" b="1" dirty="0">
                <a:solidFill>
                  <a:srgbClr val="FFC000"/>
                </a:solidFill>
              </a:rPr>
              <a:t>Problem Solving:</a:t>
            </a:r>
            <a:r>
              <a:rPr lang="en-US" altLang="en-US" sz="3200" dirty="0">
                <a:solidFill>
                  <a:srgbClr val="FFC000"/>
                </a:solidFill>
              </a:rPr>
              <a:t> </a:t>
            </a:r>
            <a:r>
              <a:rPr lang="en-US" altLang="en-US" sz="3200" dirty="0"/>
              <a:t>Research can address specific questions or issues, leading to practical solutions or advancements in a field.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0481" r="2706"/>
          <a:stretch/>
        </p:blipFill>
        <p:spPr>
          <a:xfrm>
            <a:off x="8795208" y="171351"/>
            <a:ext cx="3164265" cy="211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384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10476992" cy="4023360"/>
          </a:xfrm>
        </p:spPr>
        <p:txBody>
          <a:bodyPr/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200" b="1" dirty="0">
                <a:solidFill>
                  <a:srgbClr val="FFC000"/>
                </a:solidFill>
                <a:cs typeface="Arial" panose="020B0604020202020204" pitchFamily="34" charset="0"/>
              </a:rPr>
              <a:t>Basic Research:</a:t>
            </a:r>
            <a:r>
              <a:rPr lang="en-US" altLang="en-US" sz="3200" dirty="0">
                <a:solidFill>
                  <a:srgbClr val="FFC000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dirty="0">
                <a:cs typeface="Arial" panose="020B0604020202020204" pitchFamily="34" charset="0"/>
              </a:rPr>
              <a:t>Also known as fundamental or pure research, it focuses on expanding theoretical knowledge without immediate practical application. For example, studying cognitive processes to understand how memory works.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200" b="1" dirty="0">
                <a:solidFill>
                  <a:srgbClr val="FFC000"/>
                </a:solidFill>
                <a:cs typeface="Arial" panose="020B0604020202020204" pitchFamily="34" charset="0"/>
              </a:rPr>
              <a:t>Applied Research:</a:t>
            </a:r>
            <a:r>
              <a:rPr lang="en-US" altLang="en-US" sz="3200" dirty="0">
                <a:solidFill>
                  <a:srgbClr val="FFC000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dirty="0">
                <a:cs typeface="Arial" panose="020B0604020202020204" pitchFamily="34" charset="0"/>
              </a:rPr>
              <a:t>It aims to solve specific, practical problems and often involves direct application of theories. For instance, developing new educational strategies based on cognitive research.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454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Scientific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7" y="2285999"/>
            <a:ext cx="10778231" cy="4407031"/>
          </a:xfrm>
        </p:spPr>
        <p:txBody>
          <a:bodyPr>
            <a:normAutofit/>
          </a:bodyPr>
          <a:lstStyle/>
          <a:p>
            <a:pPr algn="just"/>
            <a:r>
              <a:rPr lang="en-US" sz="2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1. Observation</a:t>
            </a:r>
          </a:p>
          <a:p>
            <a:pPr algn="just"/>
            <a:r>
              <a:rPr lang="en-US" sz="2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2. Formulating a Hypothesis: </a:t>
            </a:r>
            <a:r>
              <a:rPr lang="en-US" sz="2600" dirty="0"/>
              <a:t>Proposing a tentative explanation or prediction based on the observations. A hypothesis should be specific, testable, and falsifiable.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600" b="1" dirty="0"/>
              <a:t> </a:t>
            </a:r>
            <a:r>
              <a:rPr lang="en-US" sz="2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3. Designing an Experiment: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sz="2600" dirty="0"/>
              <a:t>Planning how to test the hypothesis, including selecting variables, controls, and    methods for data collection.</a:t>
            </a:r>
          </a:p>
          <a:p>
            <a:pPr algn="just"/>
            <a:endParaRPr lang="en-US" sz="24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622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5963" y="1209229"/>
            <a:ext cx="9720073" cy="4023360"/>
          </a:xfrm>
        </p:spPr>
        <p:txBody>
          <a:bodyPr/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3600" b="1" dirty="0">
                <a:solidFill>
                  <a:srgbClr val="FFFF00"/>
                </a:solidFill>
              </a:rPr>
              <a:t>Variables:</a:t>
            </a:r>
            <a:endParaRPr lang="en-US" altLang="en-US" sz="3600" dirty="0">
              <a:solidFill>
                <a:srgbClr val="FFFF00"/>
              </a:solidFill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b="1" dirty="0"/>
              <a:t>Independent Variable:</a:t>
            </a:r>
            <a:r>
              <a:rPr lang="en-US" altLang="en-US" sz="2800" dirty="0"/>
              <a:t> The variable that is manipulated or changed in the experiment.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b="1" dirty="0"/>
              <a:t>Dependent Variable:</a:t>
            </a:r>
            <a:r>
              <a:rPr lang="en-US" altLang="en-US" sz="2800" dirty="0"/>
              <a:t> The variable that is measured or observed to assess the effect of the independent variable.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b="1" dirty="0"/>
              <a:t>Control Variables:</a:t>
            </a:r>
            <a:r>
              <a:rPr lang="en-US" altLang="en-US" sz="2800" dirty="0"/>
              <a:t> Factors that are kept constant to ensure that any changes in the dependent variable are due to the manipulation of the independent variable.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746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ps121science.weebly.com/intro-to-science.html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446" y="329261"/>
            <a:ext cx="7720552" cy="6337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5269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782425"/>
            <a:ext cx="9720073" cy="5526935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4. Conducting the Experiment</a:t>
            </a:r>
          </a:p>
          <a:p>
            <a:pPr algn="just"/>
            <a:r>
              <a:rPr lang="en-US" sz="2800" b="1" dirty="0"/>
              <a:t>Execution:</a:t>
            </a:r>
            <a:r>
              <a:rPr lang="en-US" sz="2800" dirty="0"/>
              <a:t> Performing the experiment according to the design, ensuring accurate and precise measurements and controls.</a:t>
            </a:r>
          </a:p>
          <a:p>
            <a:pPr algn="just"/>
            <a:r>
              <a:rPr lang="en-US" sz="2800" b="1" dirty="0"/>
              <a:t>Data Collection:</a:t>
            </a:r>
            <a:r>
              <a:rPr lang="en-US" sz="2800" dirty="0"/>
              <a:t> Systematically recording the results of the experiment.</a:t>
            </a:r>
          </a:p>
          <a:p>
            <a:pPr algn="just"/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5. Analyzing Data</a:t>
            </a:r>
          </a:p>
          <a:p>
            <a:pPr algn="just"/>
            <a:r>
              <a:rPr lang="en-US" sz="2800" b="1" dirty="0"/>
              <a:t>Data Analysis:</a:t>
            </a:r>
            <a:r>
              <a:rPr lang="en-US" sz="2800" dirty="0"/>
              <a:t> Using statistical methods or qualitative analysis to interpret the results and determine if they support or refute the hypothesis.</a:t>
            </a:r>
          </a:p>
          <a:p>
            <a:pPr algn="just"/>
            <a:r>
              <a:rPr lang="en-US" sz="2800" b="1" dirty="0"/>
              <a:t>Comparison:</a:t>
            </a:r>
            <a:r>
              <a:rPr lang="en-US" sz="2800" dirty="0"/>
              <a:t> Assessing the data against the predictions made by the hypothesis.</a:t>
            </a:r>
          </a:p>
          <a:p>
            <a:endParaRPr lang="en-US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544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583703"/>
            <a:ext cx="9720073" cy="4725657"/>
          </a:xfrm>
        </p:spPr>
        <p:txBody>
          <a:bodyPr>
            <a:normAutofit lnSpcReduction="10000"/>
          </a:bodyPr>
          <a:lstStyle/>
          <a:p>
            <a:r>
              <a:rPr lang="en-US" sz="2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6. Drawing Conclusions</a:t>
            </a:r>
          </a:p>
          <a:p>
            <a:pPr algn="just"/>
            <a:r>
              <a:rPr lang="en-US" sz="2600" b="1" dirty="0"/>
              <a:t>Conclusion Formulation:</a:t>
            </a:r>
            <a:r>
              <a:rPr lang="en-US" sz="2600" dirty="0"/>
              <a:t> Based on the data analysis, determining whether the hypothesis is supported or rejected.</a:t>
            </a:r>
          </a:p>
          <a:p>
            <a:pPr algn="just"/>
            <a:r>
              <a:rPr lang="en-US" sz="2600" b="1" dirty="0"/>
              <a:t>Implications:</a:t>
            </a:r>
            <a:r>
              <a:rPr lang="en-US" sz="2600" dirty="0"/>
              <a:t> Discussing the significance of the findings, potential impacts, and how they relate to existing knowledge.</a:t>
            </a:r>
          </a:p>
          <a:p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7. Reporting Results</a:t>
            </a:r>
          </a:p>
          <a:p>
            <a:pPr algn="just"/>
            <a:r>
              <a:rPr lang="en-US" sz="2600" b="1" dirty="0"/>
              <a:t>Documentation:</a:t>
            </a:r>
            <a:r>
              <a:rPr lang="en-US" sz="2600" dirty="0"/>
              <a:t> Writing detailed reports or papers that include the methodology, results, and conclusions. This often includes sharing the research in scientific journals or presentations.</a:t>
            </a:r>
          </a:p>
          <a:p>
            <a:pPr algn="just"/>
            <a:r>
              <a:rPr lang="en-US" sz="2600" b="1" dirty="0"/>
              <a:t>Peer Review:</a:t>
            </a:r>
            <a:r>
              <a:rPr lang="en-US" sz="2600" dirty="0"/>
              <a:t> Submitting the work for review by other experts in the field to validate the findings and methodology.</a:t>
            </a:r>
          </a:p>
        </p:txBody>
      </p:sp>
    </p:spTree>
    <p:extLst>
      <p:ext uri="{BB962C8B-B14F-4D97-AF65-F5344CB8AC3E}">
        <p14:creationId xmlns:p14="http://schemas.microsoft.com/office/powerpoint/2010/main" val="3251704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The Scientific Method in Psychology - ppt downloa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380" y="631596"/>
            <a:ext cx="10070688" cy="5421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8636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0962" y="2234153"/>
            <a:ext cx="10652288" cy="4402317"/>
          </a:xfrm>
        </p:spPr>
        <p:txBody>
          <a:bodyPr>
            <a:normAutofit lnSpcReduction="100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b="1" dirty="0">
                <a:solidFill>
                  <a:srgbClr val="FFC000"/>
                </a:solidFill>
              </a:rPr>
              <a:t>Identifying a Problem or Question: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/>
              <a:t>Defining a clear and focused research question or problem.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>
                <a:solidFill>
                  <a:srgbClr val="FFC000"/>
                </a:solidFill>
              </a:rPr>
              <a:t>Conducting a Literature Review: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/>
              <a:t>Reviewing existing research to understand what has already been discovered and to refine the research question.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>
                <a:solidFill>
                  <a:srgbClr val="FFC000"/>
                </a:solidFill>
              </a:rPr>
              <a:t>Designing the Study: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/>
              <a:t>Developing a plan that includes choosing a research design, methods, and tools for data collection.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>
                <a:solidFill>
                  <a:srgbClr val="FFC000"/>
                </a:solidFill>
              </a:rPr>
              <a:t>Collecting Data: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/>
              <a:t>Gathering information through various methods such as experiments, surveys, interviews, or observations.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>
                <a:solidFill>
                  <a:srgbClr val="FFC000"/>
                </a:solidFill>
              </a:rPr>
              <a:t>Analyzing Data: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/>
              <a:t>Using statistical or qualitative methods to interpret the data and draw conclusions.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>
                <a:solidFill>
                  <a:srgbClr val="FFC000"/>
                </a:solidFill>
              </a:rPr>
              <a:t>Reporting Results: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/>
              <a:t>Presenting findings in a structured format, often including a discussion of implications and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988775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C000"/>
                </a:solidFill>
              </a:rPr>
              <a:t>Qualitative Research:</a:t>
            </a:r>
            <a:r>
              <a:rPr lang="en-US" sz="2800" dirty="0">
                <a:solidFill>
                  <a:srgbClr val="FFC000"/>
                </a:solidFill>
              </a:rPr>
              <a:t> </a:t>
            </a:r>
            <a:r>
              <a:rPr lang="en-US" sz="2800" dirty="0"/>
              <a:t>Focuses on understanding phenomena from a subjective perspective, often using methods like interviews, thematic analysis and case study researches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C000"/>
                </a:solidFill>
              </a:rPr>
              <a:t>Quantitative Research:</a:t>
            </a:r>
            <a:r>
              <a:rPr lang="en-US" sz="2800" dirty="0">
                <a:solidFill>
                  <a:srgbClr val="FFC000"/>
                </a:solidFill>
              </a:rPr>
              <a:t> </a:t>
            </a:r>
            <a:r>
              <a:rPr lang="en-US" sz="2800" dirty="0"/>
              <a:t>Involves measuring and analyzing numerical data to identify patterns, relationships, or causal effects, using statistical techniques.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C000"/>
                </a:solidFill>
              </a:rPr>
              <a:t>Mixed Methods Research:</a:t>
            </a:r>
            <a:r>
              <a:rPr lang="en-US" sz="2800" dirty="0">
                <a:solidFill>
                  <a:srgbClr val="FFC000"/>
                </a:solidFill>
              </a:rPr>
              <a:t> </a:t>
            </a:r>
            <a:r>
              <a:rPr lang="en-US" sz="2800" dirty="0"/>
              <a:t>Combines both qualitative and quantitative approaches to provide a comprehensive analysis.</a:t>
            </a:r>
          </a:p>
        </p:txBody>
      </p:sp>
    </p:spTree>
    <p:extLst>
      <p:ext uri="{BB962C8B-B14F-4D97-AF65-F5344CB8AC3E}">
        <p14:creationId xmlns:p14="http://schemas.microsoft.com/office/powerpoint/2010/main" val="4015535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C000"/>
                </a:solidFill>
              </a:rPr>
              <a:t>Informed Consent:</a:t>
            </a:r>
            <a:r>
              <a:rPr lang="en-US" sz="2800" dirty="0">
                <a:solidFill>
                  <a:srgbClr val="FFC000"/>
                </a:solidFill>
              </a:rPr>
              <a:t> </a:t>
            </a:r>
            <a:r>
              <a:rPr lang="en-US" sz="2800" dirty="0"/>
              <a:t>Ensuring participants are aware of the research and agree to participate voluntarily.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C000"/>
                </a:solidFill>
              </a:rPr>
              <a:t>Confidentiality:</a:t>
            </a:r>
            <a:r>
              <a:rPr lang="en-US" sz="2800" dirty="0">
                <a:solidFill>
                  <a:srgbClr val="FFC000"/>
                </a:solidFill>
              </a:rPr>
              <a:t> </a:t>
            </a:r>
            <a:r>
              <a:rPr lang="en-US" sz="2800" dirty="0"/>
              <a:t>Protecting the privacy of participants and their data.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C000"/>
                </a:solidFill>
              </a:rPr>
              <a:t>Integrity:</a:t>
            </a:r>
            <a:r>
              <a:rPr lang="en-US" sz="2800" dirty="0">
                <a:solidFill>
                  <a:srgbClr val="FFC000"/>
                </a:solidFill>
              </a:rPr>
              <a:t> </a:t>
            </a:r>
            <a:r>
              <a:rPr lang="en-US" sz="2800" dirty="0"/>
              <a:t>Conducting research honestly and accurately, avoiding fabrication or falsification of data.</a:t>
            </a:r>
          </a:p>
        </p:txBody>
      </p:sp>
    </p:spTree>
    <p:extLst>
      <p:ext uri="{BB962C8B-B14F-4D97-AF65-F5344CB8AC3E}">
        <p14:creationId xmlns:p14="http://schemas.microsoft.com/office/powerpoint/2010/main" val="2873215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 of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C000"/>
                </a:solidFill>
              </a:rPr>
              <a:t>Academic and Scientific:</a:t>
            </a:r>
            <a:r>
              <a:rPr lang="en-US" sz="2800" dirty="0">
                <a:solidFill>
                  <a:srgbClr val="FFC000"/>
                </a:solidFill>
              </a:rPr>
              <a:t> </a:t>
            </a:r>
            <a:r>
              <a:rPr lang="en-US" sz="2800" dirty="0"/>
              <a:t>Contributing to the body of knowledge in various fields such as psychology, medicine, or sociology.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C000"/>
                </a:solidFill>
              </a:rPr>
              <a:t>Professional and Practical:</a:t>
            </a:r>
            <a:r>
              <a:rPr lang="en-US" sz="2800" dirty="0">
                <a:solidFill>
                  <a:srgbClr val="FFC000"/>
                </a:solidFill>
              </a:rPr>
              <a:t> </a:t>
            </a:r>
            <a:r>
              <a:rPr lang="en-US" sz="2800" dirty="0"/>
              <a:t>Informing practices and policies in areas like education, healthcare, or business.</a:t>
            </a:r>
          </a:p>
        </p:txBody>
      </p:sp>
    </p:spTree>
    <p:extLst>
      <p:ext uri="{BB962C8B-B14F-4D97-AF65-F5344CB8AC3E}">
        <p14:creationId xmlns:p14="http://schemas.microsoft.com/office/powerpoint/2010/main" val="7609990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208</TotalTime>
  <Words>730</Words>
  <Application>Microsoft Office PowerPoint</Application>
  <PresentationFormat>Widescreen</PresentationFormat>
  <Paragraphs>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Gill Sans</vt:lpstr>
      <vt:lpstr>Times New Roman</vt:lpstr>
      <vt:lpstr>Tw Cen MT</vt:lpstr>
      <vt:lpstr>Tw Cen MT Condensed</vt:lpstr>
      <vt:lpstr>Wingdings 3</vt:lpstr>
      <vt:lpstr>Integral</vt:lpstr>
      <vt:lpstr>RESEARCH METHODOLOGY IN Psychology</vt:lpstr>
      <vt:lpstr>LEARNING OUTCOMES</vt:lpstr>
      <vt:lpstr>What is research?</vt:lpstr>
      <vt:lpstr>Types of Research</vt:lpstr>
      <vt:lpstr>Scientific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Research Process</vt:lpstr>
      <vt:lpstr>Research Methodologies</vt:lpstr>
      <vt:lpstr>Ethical Considerations</vt:lpstr>
      <vt:lpstr>Applications of Research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METHODOLOGY IN PSYCHOLOGY(WEEK 2)</dc:title>
  <dc:creator>ESHOP</dc:creator>
  <cp:lastModifiedBy>ESHOP</cp:lastModifiedBy>
  <cp:revision>27</cp:revision>
  <dcterms:created xsi:type="dcterms:W3CDTF">2024-08-24T18:01:01Z</dcterms:created>
  <dcterms:modified xsi:type="dcterms:W3CDTF">2025-09-09T08:52:32Z</dcterms:modified>
</cp:coreProperties>
</file>